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icio" id="{82fe82e0-09f1-d3c0-2fd4-18a70bbf3dff}">
          <p14:sldIdLst>
            <p14:sldId id="256"/>
            <p14:sldId id="257"/>
          </p14:sldIdLst>
        </p14:section>
        <p14:section name="Solución" id="{c34eef18-9aca-981a-4aea-154e904e9993}">
          <p14:sldIdLst>
            <p14:sldId id="258"/>
            <p14:sldId id="259"/>
            <p14:sldId id="260"/>
          </p14:sldIdLst>
        </p14:section>
        <p14:section name="Servidor" id="{10680fbe-317f-0acd-3015-37eb085db9f8}">
          <p14:sldIdLst>
            <p14:sldId id="261"/>
            <p14:sldId id="262"/>
            <p14:sldId id="263"/>
            <p14:sldId id="264"/>
          </p14:sldIdLst>
        </p14:section>
        <p14:section name="Clientes" id="{092be2ac-2128-49d0-bace-c31bc9912c10}">
          <p14:sldIdLst>
            <p14:sldId id="265"/>
            <p14:sldId id="266"/>
            <p14:sldId id="267"/>
          </p14:sldIdLst>
        </p14:section>
        <p14:section name="Cierre" id="{9b9197d3-fd10-efef-2cef-7943fd2cd17e}">
          <p14:sldIdLst>
            <p14:sldId id="268"/>
            <p14:sldId id="269"/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Grupo 1 · NRC 36841 · Conversión de Unidades Monster · RESTful Java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rjeta_1"/>
          <p:cNvSpPr/>
          <p:nvPr/>
        </p:nvSpPr>
        <p:spPr>
          <a:xfrm>
            <a:off x="685800" y="1234440"/>
            <a:ext cx="4114800" cy="4389120"/>
          </a:xfrm>
          <a:prstGeom prst="roundRect">
            <a:avLst>
              <a:gd name="adj" fmla="val 3333"/>
            </a:avLst>
          </a:prstGeom>
          <a:solidFill>
            <a:srgbClr val="1A2B4B"/>
          </a:solidFill>
          <a:ln w="381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3" name="monster_portada" descr="Monste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371600"/>
            <a:ext cx="3840480" cy="4114800"/>
          </a:xfrm>
          <a:prstGeom prst="rect">
            <a:avLst/>
          </a:prstGeom>
        </p:spPr>
      </p:pic>
      <p:sp>
        <p:nvSpPr>
          <p:cNvPr id="4" name="texto_2"/>
          <p:cNvSpPr txBox="1"/>
          <p:nvPr/>
        </p:nvSpPr>
        <p:spPr>
          <a:xfrm>
            <a:off x="5303520" y="7315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UNIVERSIDAD DE LAS FUERZAS ARMADAS – ESPE · ARQUITECTURA DE SOFTWARE</a:t>
            </a:r>
            <a:endParaRPr lang="en-US" sz="1200" dirty="0"/>
          </a:p>
        </p:txBody>
      </p:sp>
      <p:sp>
        <p:nvSpPr>
          <p:cNvPr id="5" name="texto_3"/>
          <p:cNvSpPr txBox="1"/>
          <p:nvPr/>
        </p:nvSpPr>
        <p:spPr>
          <a:xfrm>
            <a:off x="5303520" y="1280160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Conversión de Unidades Monster</a:t>
            </a:r>
            <a:endParaRPr lang="en-US" sz="4400" dirty="0"/>
          </a:p>
        </p:txBody>
      </p:sp>
      <p:sp>
        <p:nvSpPr>
          <p:cNvPr id="6" name="texto_4"/>
          <p:cNvSpPr txBox="1"/>
          <p:nvPr/>
        </p:nvSpPr>
        <p:spPr>
          <a:xfrm>
            <a:off x="5303520" y="278892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Servicio web RESTful en Java (sin base de datos) con clientes de consola, escritorio, web y móvil</a:t>
            </a:r>
            <a:endParaRPr lang="en-US" sz="1800" dirty="0"/>
          </a:p>
        </p:txBody>
      </p:sp>
      <p:sp>
        <p:nvSpPr>
          <p:cNvPr id="7" name="texto_5"/>
          <p:cNvSpPr txBox="1"/>
          <p:nvPr/>
        </p:nvSpPr>
        <p:spPr>
          <a:xfrm>
            <a:off x="5303520" y="4023360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Grupo 1 · NRC 36841 · PAO202651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bg2"/>
                </a:solidFill>
              </a:rPr>
              <a:t>Benalcázar Moisés · Buestán Wilmer · Masapanta Jefferson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accent6"/>
                </a:solidFill>
              </a:rPr>
              <a:t>Tutor: Ing. Eduardo Mauricio Campaña Ortega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accent6"/>
                </a:solidFill>
              </a:rPr>
              <a:t>28 de octubre de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2"/>
                </a:solidFill>
              </a:rPr>
              <a:t>Contenido</a:t>
            </a:r>
            <a:endParaRPr lang="en-US" sz="3200" dirty="0"/>
          </a:p>
        </p:txBody>
      </p:sp>
      <p:sp>
        <p:nvSpPr>
          <p:cNvPr id="3" name="tarjeta_6"/>
          <p:cNvSpPr/>
          <p:nvPr/>
        </p:nvSpPr>
        <p:spPr>
          <a:xfrm>
            <a:off x="731520" y="1463040"/>
            <a:ext cx="5212080" cy="1234440"/>
          </a:xfrm>
          <a:prstGeom prst="roundRect">
            <a:avLst>
              <a:gd name="adj" fmla="val 11111"/>
            </a:avLst>
          </a:prstGeom>
          <a:solidFill>
            <a:schemeClr val="tx2"/>
          </a:solidFill>
          <a:ln w="12700">
            <a:solidFill>
              <a:srgbClr val="2439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4" name="circulo_7"/>
          <p:cNvSpPr/>
          <p:nvPr/>
        </p:nvSpPr>
        <p:spPr>
          <a:xfrm>
            <a:off x="1005840" y="1764792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icono_8"/>
          <p:cNvSpPr txBox="1"/>
          <p:nvPr/>
        </p:nvSpPr>
        <p:spPr>
          <a:xfrm>
            <a:off x="1005840" y="17647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o_9"/>
          <p:cNvSpPr txBox="1"/>
          <p:nvPr/>
        </p:nvSpPr>
        <p:spPr>
          <a:xfrm>
            <a:off x="1874520" y="178308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2"/>
                </a:solidFill>
              </a:rPr>
              <a:t>Problema y solución SOA</a:t>
            </a:r>
            <a:endParaRPr lang="en-US" sz="2000" dirty="0"/>
          </a:p>
        </p:txBody>
      </p:sp>
      <p:sp>
        <p:nvSpPr>
          <p:cNvPr id="7" name="tarjeta_10"/>
          <p:cNvSpPr/>
          <p:nvPr/>
        </p:nvSpPr>
        <p:spPr>
          <a:xfrm>
            <a:off x="6309360" y="1463040"/>
            <a:ext cx="5212080" cy="1234440"/>
          </a:xfrm>
          <a:prstGeom prst="roundRect">
            <a:avLst>
              <a:gd name="adj" fmla="val 11111"/>
            </a:avLst>
          </a:prstGeom>
          <a:solidFill>
            <a:schemeClr val="tx2"/>
          </a:solidFill>
          <a:ln w="12700">
            <a:solidFill>
              <a:srgbClr val="2439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circulo_11"/>
          <p:cNvSpPr/>
          <p:nvPr/>
        </p:nvSpPr>
        <p:spPr>
          <a:xfrm>
            <a:off x="6583680" y="1764792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icono_12"/>
          <p:cNvSpPr txBox="1"/>
          <p:nvPr/>
        </p:nvSpPr>
        <p:spPr>
          <a:xfrm>
            <a:off x="6583680" y="17647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o_13"/>
          <p:cNvSpPr txBox="1"/>
          <p:nvPr/>
        </p:nvSpPr>
        <p:spPr>
          <a:xfrm>
            <a:off x="7452360" y="178308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2"/>
                </a:solidFill>
              </a:rPr>
              <a:t>Arquitectura y tecnologías</a:t>
            </a:r>
            <a:endParaRPr lang="en-US" sz="2000" dirty="0"/>
          </a:p>
        </p:txBody>
      </p:sp>
      <p:sp>
        <p:nvSpPr>
          <p:cNvPr id="11" name="tarjeta_14"/>
          <p:cNvSpPr/>
          <p:nvPr/>
        </p:nvSpPr>
        <p:spPr>
          <a:xfrm>
            <a:off x="731520" y="3017520"/>
            <a:ext cx="5212080" cy="1234440"/>
          </a:xfrm>
          <a:prstGeom prst="roundRect">
            <a:avLst>
              <a:gd name="adj" fmla="val 11111"/>
            </a:avLst>
          </a:prstGeom>
          <a:solidFill>
            <a:schemeClr val="tx2"/>
          </a:solidFill>
          <a:ln w="12700">
            <a:solidFill>
              <a:srgbClr val="2439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circulo_15"/>
          <p:cNvSpPr/>
          <p:nvPr/>
        </p:nvSpPr>
        <p:spPr>
          <a:xfrm>
            <a:off x="1005840" y="3319272"/>
            <a:ext cx="640080" cy="640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icono_16"/>
          <p:cNvSpPr txBox="1"/>
          <p:nvPr/>
        </p:nvSpPr>
        <p:spPr>
          <a:xfrm>
            <a:off x="1005840" y="33192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o_17"/>
          <p:cNvSpPr txBox="1"/>
          <p:nvPr/>
        </p:nvSpPr>
        <p:spPr>
          <a:xfrm>
            <a:off x="1874520" y="333756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2"/>
                </a:solidFill>
              </a:rPr>
              <a:t>Servidor RESTful y seguridad</a:t>
            </a:r>
            <a:endParaRPr lang="en-US" sz="2000" dirty="0"/>
          </a:p>
        </p:txBody>
      </p:sp>
      <p:sp>
        <p:nvSpPr>
          <p:cNvPr id="15" name="tarjeta_18"/>
          <p:cNvSpPr/>
          <p:nvPr/>
        </p:nvSpPr>
        <p:spPr>
          <a:xfrm>
            <a:off x="6309360" y="3017520"/>
            <a:ext cx="5212080" cy="1234440"/>
          </a:xfrm>
          <a:prstGeom prst="roundRect">
            <a:avLst>
              <a:gd name="adj" fmla="val 11111"/>
            </a:avLst>
          </a:prstGeom>
          <a:solidFill>
            <a:schemeClr val="tx2"/>
          </a:solidFill>
          <a:ln w="12700">
            <a:solidFill>
              <a:srgbClr val="2439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circulo_19"/>
          <p:cNvSpPr/>
          <p:nvPr/>
        </p:nvSpPr>
        <p:spPr>
          <a:xfrm>
            <a:off x="6583680" y="3319272"/>
            <a:ext cx="640080" cy="6400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icono_20"/>
          <p:cNvSpPr txBox="1"/>
          <p:nvPr/>
        </p:nvSpPr>
        <p:spPr>
          <a:xfrm>
            <a:off x="6583680" y="33192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texto_21"/>
          <p:cNvSpPr txBox="1"/>
          <p:nvPr/>
        </p:nvSpPr>
        <p:spPr>
          <a:xfrm>
            <a:off x="7452360" y="333756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2"/>
                </a:solidFill>
              </a:rPr>
              <a:t>Conversiones soportadas</a:t>
            </a:r>
            <a:endParaRPr lang="en-US" sz="2000" dirty="0"/>
          </a:p>
        </p:txBody>
      </p:sp>
      <p:sp>
        <p:nvSpPr>
          <p:cNvPr id="19" name="tarjeta_22"/>
          <p:cNvSpPr/>
          <p:nvPr/>
        </p:nvSpPr>
        <p:spPr>
          <a:xfrm>
            <a:off x="731520" y="4572000"/>
            <a:ext cx="5212080" cy="1234440"/>
          </a:xfrm>
          <a:prstGeom prst="roundRect">
            <a:avLst>
              <a:gd name="adj" fmla="val 11111"/>
            </a:avLst>
          </a:prstGeom>
          <a:solidFill>
            <a:schemeClr val="tx2"/>
          </a:solidFill>
          <a:ln w="12700">
            <a:solidFill>
              <a:srgbClr val="2439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circulo_23"/>
          <p:cNvSpPr/>
          <p:nvPr/>
        </p:nvSpPr>
        <p:spPr>
          <a:xfrm>
            <a:off x="1005840" y="4873752"/>
            <a:ext cx="640080" cy="6400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1" name="icono_24"/>
          <p:cNvSpPr txBox="1"/>
          <p:nvPr/>
        </p:nvSpPr>
        <p:spPr>
          <a:xfrm>
            <a:off x="1005840" y="48737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5</a:t>
            </a:r>
            <a:endParaRPr lang="en-US" sz="1600" dirty="0"/>
          </a:p>
        </p:txBody>
      </p:sp>
      <p:sp>
        <p:nvSpPr>
          <p:cNvPr id="22" name="texto_25"/>
          <p:cNvSpPr txBox="1"/>
          <p:nvPr/>
        </p:nvSpPr>
        <p:spPr>
          <a:xfrm>
            <a:off x="1874520" y="48920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2"/>
                </a:solidFill>
              </a:rPr>
              <a:t>Los 4 clientes en acción</a:t>
            </a:r>
            <a:endParaRPr lang="en-US" sz="2000" dirty="0"/>
          </a:p>
        </p:txBody>
      </p:sp>
      <p:sp>
        <p:nvSpPr>
          <p:cNvPr id="23" name="tarjeta_26"/>
          <p:cNvSpPr/>
          <p:nvPr/>
        </p:nvSpPr>
        <p:spPr>
          <a:xfrm>
            <a:off x="6309360" y="4572000"/>
            <a:ext cx="5212080" cy="1234440"/>
          </a:xfrm>
          <a:prstGeom prst="roundRect">
            <a:avLst>
              <a:gd name="adj" fmla="val 11111"/>
            </a:avLst>
          </a:prstGeom>
          <a:solidFill>
            <a:schemeClr val="tx2"/>
          </a:solidFill>
          <a:ln w="12700">
            <a:solidFill>
              <a:srgbClr val="2439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4" name="circulo_27"/>
          <p:cNvSpPr/>
          <p:nvPr/>
        </p:nvSpPr>
        <p:spPr>
          <a:xfrm>
            <a:off x="6583680" y="4873752"/>
            <a:ext cx="640080" cy="64008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5" name="icono_28"/>
          <p:cNvSpPr txBox="1"/>
          <p:nvPr/>
        </p:nvSpPr>
        <p:spPr>
          <a:xfrm>
            <a:off x="6583680" y="48737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6</a:t>
            </a:r>
            <a:endParaRPr lang="en-US" sz="1600" dirty="0"/>
          </a:p>
        </p:txBody>
      </p:sp>
      <p:sp>
        <p:nvSpPr>
          <p:cNvPr id="26" name="texto_29"/>
          <p:cNvSpPr txBox="1"/>
          <p:nvPr/>
        </p:nvSpPr>
        <p:spPr>
          <a:xfrm>
            <a:off x="7452360" y="48920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2"/>
                </a:solidFill>
              </a:rPr>
              <a:t>Pruebas, diagramas y conclusiones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2"/>
                </a:solidFill>
              </a:rPr>
              <a:t>Una sola lógica, cuatro clientes</a:t>
            </a:r>
            <a:endParaRPr lang="en-US" sz="3200" dirty="0"/>
          </a:p>
        </p:txBody>
      </p:sp>
      <p:sp>
        <p:nvSpPr>
          <p:cNvPr id="3" name="tarjeta_30"/>
          <p:cNvSpPr/>
          <p:nvPr/>
        </p:nvSpPr>
        <p:spPr>
          <a:xfrm>
            <a:off x="548640" y="1371600"/>
            <a:ext cx="5394960" cy="4480560"/>
          </a:xfrm>
          <a:prstGeom prst="roundRect">
            <a:avLst>
              <a:gd name="adj" fmla="val 3061"/>
            </a:avLst>
          </a:prstGeom>
          <a:solidFill>
            <a:schemeClr val="tx2"/>
          </a:solidFill>
          <a:ln w="12700">
            <a:solidFill>
              <a:srgbClr val="2439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4" name="texto_31"/>
          <p:cNvSpPr txBox="1"/>
          <p:nvPr/>
        </p:nvSpPr>
        <p:spPr>
          <a:xfrm>
            <a:off x="868680" y="16002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4"/>
                </a:solidFill>
              </a:rPr>
              <a:t>Problema</a:t>
            </a:r>
            <a:endParaRPr lang="en-US" sz="2200" dirty="0"/>
          </a:p>
        </p:txBody>
      </p:sp>
      <p:sp>
        <p:nvSpPr>
          <p:cNvPr id="5" name="texto_32"/>
          <p:cNvSpPr txBox="1"/>
          <p:nvPr/>
        </p:nvSpPr>
        <p:spPr>
          <a:xfrm>
            <a:off x="868680" y="2194560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bg2"/>
                </a:solidFill>
              </a:rPr>
              <a:t>La misma conversión se programa en cada plataforma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bg2"/>
                </a:solidFill>
              </a:rPr>
              <a:t>Cualquier corrección obliga a modificar todas las apps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bg2"/>
                </a:solidFill>
              </a:rPr>
              <a:t>No hay control de acceso ni formato de respuesta común</a:t>
            </a:r>
            <a:endParaRPr lang="en-US" sz="1700" dirty="0"/>
          </a:p>
        </p:txBody>
      </p:sp>
      <p:sp>
        <p:nvSpPr>
          <p:cNvPr id="6" name="tarjeta_33"/>
          <p:cNvSpPr/>
          <p:nvPr/>
        </p:nvSpPr>
        <p:spPr>
          <a:xfrm>
            <a:off x="6263640" y="1371600"/>
            <a:ext cx="5394960" cy="4480560"/>
          </a:xfrm>
          <a:prstGeom prst="roundRect">
            <a:avLst>
              <a:gd name="adj" fmla="val 3061"/>
            </a:avLst>
          </a:prstGeom>
          <a:solidFill>
            <a:schemeClr val="tx2"/>
          </a:solidFill>
          <a:ln w="25400">
            <a:solidFill>
              <a:schemeClr val="accent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o_34"/>
          <p:cNvSpPr txBox="1"/>
          <p:nvPr/>
        </p:nvSpPr>
        <p:spPr>
          <a:xfrm>
            <a:off x="6583680" y="16002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Solución SOA + REST</a:t>
            </a:r>
            <a:endParaRPr lang="en-US" sz="2200" dirty="0"/>
          </a:p>
        </p:txBody>
      </p:sp>
      <p:sp>
        <p:nvSpPr>
          <p:cNvPr id="8" name="texto_35"/>
          <p:cNvSpPr txBox="1"/>
          <p:nvPr/>
        </p:nvSpPr>
        <p:spPr>
          <a:xfrm>
            <a:off x="6583680" y="2194560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bg2"/>
                </a:solidFill>
              </a:rPr>
              <a:t>La lógica vive solo en el servidor (Payara)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bg2"/>
                </a:solidFill>
              </a:rPr>
              <a:t>Consola, escritorio, web y móvil consumen la misma API JSON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bg2"/>
                </a:solidFill>
              </a:rPr>
              <a:t>Acceso con token y respuesta estándar {exito, mensaje, datos}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bg2"/>
                </a:solidFill>
              </a:rPr>
              <a:t>Panel que muestra en vivo qué cliente usa el servicio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2"/>
                </a:solidFill>
              </a:rPr>
              <a:t>Arquitectura de la solución</a:t>
            </a:r>
            <a:endParaRPr lang="en-US" sz="3200" dirty="0"/>
          </a:p>
        </p:txBody>
      </p:sp>
      <p:sp>
        <p:nvSpPr>
          <p:cNvPr id="3" name="tarjeta_36"/>
          <p:cNvSpPr/>
          <p:nvPr/>
        </p:nvSpPr>
        <p:spPr>
          <a:xfrm>
            <a:off x="566928" y="1252728"/>
            <a:ext cx="11027664" cy="3529584"/>
          </a:xfrm>
          <a:prstGeom prst="roundRect">
            <a:avLst>
              <a:gd name="adj" fmla="val 3886"/>
            </a:avLst>
          </a:prstGeom>
          <a:solidFill>
            <a:srgbClr val="1A2B4B"/>
          </a:solidFill>
          <a:ln w="12700">
            <a:solidFill>
              <a:srgbClr val="2439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4" name="imagen_37" descr="14_arquitectura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325880"/>
            <a:ext cx="10881360" cy="3383280"/>
          </a:xfrm>
          <a:prstGeom prst="rect">
            <a:avLst/>
          </a:prstGeom>
        </p:spPr>
      </p:pic>
      <p:sp>
        <p:nvSpPr>
          <p:cNvPr id="5" name="tarjeta_38"/>
          <p:cNvSpPr/>
          <p:nvPr/>
        </p:nvSpPr>
        <p:spPr>
          <a:xfrm>
            <a:off x="640080" y="5029200"/>
            <a:ext cx="2606040" cy="1097280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 w="12700">
            <a:solidFill>
              <a:srgbClr val="2439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o_39"/>
          <p:cNvSpPr txBox="1"/>
          <p:nvPr/>
        </p:nvSpPr>
        <p:spPr>
          <a:xfrm>
            <a:off x="822960" y="51389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config</a:t>
            </a:r>
            <a:endParaRPr lang="en-US" sz="1600" dirty="0"/>
          </a:p>
        </p:txBody>
      </p:sp>
      <p:sp>
        <p:nvSpPr>
          <p:cNvPr id="7" name="texto_40"/>
          <p:cNvSpPr txBox="1"/>
          <p:nvPr/>
        </p:nvSpPr>
        <p:spPr>
          <a:xfrm>
            <a:off x="822960" y="550468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Filtros token y CORS, errores</a:t>
            </a:r>
            <a:endParaRPr lang="en-US" sz="1300" dirty="0"/>
          </a:p>
        </p:txBody>
      </p:sp>
      <p:sp>
        <p:nvSpPr>
          <p:cNvPr id="8" name="tarjeta_41"/>
          <p:cNvSpPr/>
          <p:nvPr/>
        </p:nvSpPr>
        <p:spPr>
          <a:xfrm>
            <a:off x="3401568" y="5029200"/>
            <a:ext cx="2606040" cy="1097280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 w="12700">
            <a:solidFill>
              <a:srgbClr val="2439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o_42"/>
          <p:cNvSpPr txBox="1"/>
          <p:nvPr/>
        </p:nvSpPr>
        <p:spPr>
          <a:xfrm>
            <a:off x="3584448" y="51389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controlador</a:t>
            </a:r>
            <a:endParaRPr lang="en-US" sz="1600" dirty="0"/>
          </a:p>
        </p:txBody>
      </p:sp>
      <p:sp>
        <p:nvSpPr>
          <p:cNvPr id="10" name="texto_43"/>
          <p:cNvSpPr txBox="1"/>
          <p:nvPr/>
        </p:nvSpPr>
        <p:spPr>
          <a:xfrm>
            <a:off x="3584448" y="550468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Recursos JAX-RS /api</a:t>
            </a:r>
            <a:endParaRPr lang="en-US" sz="1300" dirty="0"/>
          </a:p>
        </p:txBody>
      </p:sp>
      <p:sp>
        <p:nvSpPr>
          <p:cNvPr id="11" name="tarjeta_44"/>
          <p:cNvSpPr/>
          <p:nvPr/>
        </p:nvSpPr>
        <p:spPr>
          <a:xfrm>
            <a:off x="6163056" y="5029200"/>
            <a:ext cx="2606040" cy="1097280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 w="12700">
            <a:solidFill>
              <a:srgbClr val="2439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texto_45"/>
          <p:cNvSpPr txBox="1"/>
          <p:nvPr/>
        </p:nvSpPr>
        <p:spPr>
          <a:xfrm>
            <a:off x="6345936" y="51389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servicio</a:t>
            </a:r>
            <a:endParaRPr lang="en-US" sz="1600" dirty="0"/>
          </a:p>
        </p:txBody>
      </p:sp>
      <p:sp>
        <p:nvSpPr>
          <p:cNvPr id="13" name="texto_46"/>
          <p:cNvSpPr txBox="1"/>
          <p:nvPr/>
        </p:nvSpPr>
        <p:spPr>
          <a:xfrm>
            <a:off x="6345936" y="550468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Autenticación, conversión, historial</a:t>
            </a:r>
            <a:endParaRPr lang="en-US" sz="1300" dirty="0"/>
          </a:p>
        </p:txBody>
      </p:sp>
      <p:sp>
        <p:nvSpPr>
          <p:cNvPr id="14" name="tarjeta_47"/>
          <p:cNvSpPr/>
          <p:nvPr/>
        </p:nvSpPr>
        <p:spPr>
          <a:xfrm>
            <a:off x="8924544" y="5029200"/>
            <a:ext cx="2606040" cy="1097280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 w="12700">
            <a:solidFill>
              <a:srgbClr val="2439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texto_48"/>
          <p:cNvSpPr txBox="1"/>
          <p:nvPr/>
        </p:nvSpPr>
        <p:spPr>
          <a:xfrm>
            <a:off x="9107424" y="51389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modelo</a:t>
            </a:r>
            <a:endParaRPr lang="en-US" sz="1600" dirty="0"/>
          </a:p>
        </p:txBody>
      </p:sp>
      <p:sp>
        <p:nvSpPr>
          <p:cNvPr id="16" name="texto_49"/>
          <p:cNvSpPr txBox="1"/>
          <p:nvPr/>
        </p:nvSpPr>
        <p:spPr>
          <a:xfrm>
            <a:off x="9107424" y="550468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Magnitud, Unidad, DTOs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2"/>
                </a:solidFill>
              </a:rPr>
              <a:t>Tecnologías</a:t>
            </a:r>
            <a:endParaRPr lang="en-US" sz="3200" dirty="0"/>
          </a:p>
        </p:txBody>
      </p:sp>
      <p:sp>
        <p:nvSpPr>
          <p:cNvPr id="3" name="tarjeta_50"/>
          <p:cNvSpPr/>
          <p:nvPr/>
        </p:nvSpPr>
        <p:spPr>
          <a:xfrm>
            <a:off x="640080" y="1463040"/>
            <a:ext cx="2606040" cy="205740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12700">
            <a:solidFill>
              <a:srgbClr val="2439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4" name="circulo_51"/>
          <p:cNvSpPr/>
          <p:nvPr/>
        </p:nvSpPr>
        <p:spPr>
          <a:xfrm>
            <a:off x="868680" y="17373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icono_52"/>
          <p:cNvSpPr txBox="1"/>
          <p:nvPr/>
        </p:nvSpPr>
        <p:spPr>
          <a:xfrm>
            <a:off x="86868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J</a:t>
            </a:r>
            <a:endParaRPr lang="en-US" sz="1600" dirty="0"/>
          </a:p>
        </p:txBody>
      </p:sp>
      <p:sp>
        <p:nvSpPr>
          <p:cNvPr id="6" name="texto_53"/>
          <p:cNvSpPr txBox="1"/>
          <p:nvPr/>
        </p:nvSpPr>
        <p:spPr>
          <a:xfrm>
            <a:off x="868680" y="24231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2"/>
                </a:solidFill>
              </a:rPr>
              <a:t>JDK 21</a:t>
            </a:r>
            <a:endParaRPr lang="en-US" sz="1800" dirty="0"/>
          </a:p>
        </p:txBody>
      </p:sp>
      <p:sp>
        <p:nvSpPr>
          <p:cNvPr id="7" name="texto_54"/>
          <p:cNvSpPr txBox="1"/>
          <p:nvPr/>
        </p:nvSpPr>
        <p:spPr>
          <a:xfrm>
            <a:off x="868680" y="28346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Lenguaje Java LTS</a:t>
            </a:r>
            <a:endParaRPr lang="en-US" sz="1300" dirty="0"/>
          </a:p>
        </p:txBody>
      </p:sp>
      <p:sp>
        <p:nvSpPr>
          <p:cNvPr id="8" name="tarjeta_55"/>
          <p:cNvSpPr/>
          <p:nvPr/>
        </p:nvSpPr>
        <p:spPr>
          <a:xfrm>
            <a:off x="3401568" y="1463040"/>
            <a:ext cx="2606040" cy="205740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12700">
            <a:solidFill>
              <a:srgbClr val="2439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circulo_56"/>
          <p:cNvSpPr/>
          <p:nvPr/>
        </p:nvSpPr>
        <p:spPr>
          <a:xfrm>
            <a:off x="3630168" y="17373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icono_57"/>
          <p:cNvSpPr txBox="1"/>
          <p:nvPr/>
        </p:nvSpPr>
        <p:spPr>
          <a:xfrm>
            <a:off x="3630168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J</a:t>
            </a:r>
            <a:endParaRPr lang="en-US" sz="1600" dirty="0"/>
          </a:p>
        </p:txBody>
      </p:sp>
      <p:sp>
        <p:nvSpPr>
          <p:cNvPr id="11" name="texto_58"/>
          <p:cNvSpPr txBox="1"/>
          <p:nvPr/>
        </p:nvSpPr>
        <p:spPr>
          <a:xfrm>
            <a:off x="3630168" y="24231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2"/>
                </a:solidFill>
              </a:rPr>
              <a:t>Jakarta EE 11</a:t>
            </a:r>
            <a:endParaRPr lang="en-US" sz="1800" dirty="0"/>
          </a:p>
        </p:txBody>
      </p:sp>
      <p:sp>
        <p:nvSpPr>
          <p:cNvPr id="12" name="texto_59"/>
          <p:cNvSpPr txBox="1"/>
          <p:nvPr/>
        </p:nvSpPr>
        <p:spPr>
          <a:xfrm>
            <a:off x="3630168" y="28346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JAX-RS, JSON-B, Servlet, JSP</a:t>
            </a:r>
            <a:endParaRPr lang="en-US" sz="1300" dirty="0"/>
          </a:p>
        </p:txBody>
      </p:sp>
      <p:sp>
        <p:nvSpPr>
          <p:cNvPr id="13" name="tarjeta_60"/>
          <p:cNvSpPr/>
          <p:nvPr/>
        </p:nvSpPr>
        <p:spPr>
          <a:xfrm>
            <a:off x="6163056" y="1463040"/>
            <a:ext cx="2606040" cy="205740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12700">
            <a:solidFill>
              <a:srgbClr val="2439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circulo_61"/>
          <p:cNvSpPr/>
          <p:nvPr/>
        </p:nvSpPr>
        <p:spPr>
          <a:xfrm>
            <a:off x="6391656" y="173736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icono_62"/>
          <p:cNvSpPr txBox="1"/>
          <p:nvPr/>
        </p:nvSpPr>
        <p:spPr>
          <a:xfrm>
            <a:off x="6391656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</a:t>
            </a:r>
            <a:endParaRPr lang="en-US" sz="1600" dirty="0"/>
          </a:p>
        </p:txBody>
      </p:sp>
      <p:sp>
        <p:nvSpPr>
          <p:cNvPr id="16" name="texto_63"/>
          <p:cNvSpPr txBox="1"/>
          <p:nvPr/>
        </p:nvSpPr>
        <p:spPr>
          <a:xfrm>
            <a:off x="6391656" y="24231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2"/>
                </a:solidFill>
              </a:rPr>
              <a:t>Payara 7</a:t>
            </a:r>
            <a:endParaRPr lang="en-US" sz="1800" dirty="0"/>
          </a:p>
        </p:txBody>
      </p:sp>
      <p:sp>
        <p:nvSpPr>
          <p:cNvPr id="17" name="texto_64"/>
          <p:cNvSpPr txBox="1"/>
          <p:nvPr/>
        </p:nvSpPr>
        <p:spPr>
          <a:xfrm>
            <a:off x="6391656" y="28346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Servidor de aplicaciones</a:t>
            </a:r>
            <a:endParaRPr lang="en-US" sz="1300" dirty="0"/>
          </a:p>
        </p:txBody>
      </p:sp>
      <p:sp>
        <p:nvSpPr>
          <p:cNvPr id="18" name="tarjeta_65"/>
          <p:cNvSpPr/>
          <p:nvPr/>
        </p:nvSpPr>
        <p:spPr>
          <a:xfrm>
            <a:off x="8924544" y="1463040"/>
            <a:ext cx="2606040" cy="205740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12700">
            <a:solidFill>
              <a:srgbClr val="2439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circulo_66"/>
          <p:cNvSpPr/>
          <p:nvPr/>
        </p:nvSpPr>
        <p:spPr>
          <a:xfrm>
            <a:off x="9153144" y="1737360"/>
            <a:ext cx="548640" cy="5486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0" name="icono_67"/>
          <p:cNvSpPr txBox="1"/>
          <p:nvPr/>
        </p:nvSpPr>
        <p:spPr>
          <a:xfrm>
            <a:off x="9153144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N</a:t>
            </a:r>
            <a:endParaRPr lang="en-US" sz="1600" dirty="0"/>
          </a:p>
        </p:txBody>
      </p:sp>
      <p:sp>
        <p:nvSpPr>
          <p:cNvPr id="21" name="texto_68"/>
          <p:cNvSpPr txBox="1"/>
          <p:nvPr/>
        </p:nvSpPr>
        <p:spPr>
          <a:xfrm>
            <a:off x="9153144" y="24231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2"/>
                </a:solidFill>
              </a:rPr>
              <a:t>NetBeans 28</a:t>
            </a:r>
            <a:endParaRPr lang="en-US" sz="1800" dirty="0"/>
          </a:p>
        </p:txBody>
      </p:sp>
      <p:sp>
        <p:nvSpPr>
          <p:cNvPr id="22" name="texto_69"/>
          <p:cNvSpPr txBox="1"/>
          <p:nvPr/>
        </p:nvSpPr>
        <p:spPr>
          <a:xfrm>
            <a:off x="9153144" y="28346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Proyectos Maven</a:t>
            </a:r>
            <a:endParaRPr lang="en-US" sz="1300" dirty="0"/>
          </a:p>
        </p:txBody>
      </p:sp>
      <p:sp>
        <p:nvSpPr>
          <p:cNvPr id="23" name="tarjeta_70"/>
          <p:cNvSpPr/>
          <p:nvPr/>
        </p:nvSpPr>
        <p:spPr>
          <a:xfrm>
            <a:off x="640080" y="3794760"/>
            <a:ext cx="2606040" cy="205740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12700">
            <a:solidFill>
              <a:srgbClr val="2439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4" name="circulo_71"/>
          <p:cNvSpPr/>
          <p:nvPr/>
        </p:nvSpPr>
        <p:spPr>
          <a:xfrm>
            <a:off x="868680" y="406908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5" name="icono_72"/>
          <p:cNvSpPr txBox="1"/>
          <p:nvPr/>
        </p:nvSpPr>
        <p:spPr>
          <a:xfrm>
            <a:off x="868680" y="4069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</a:t>
            </a:r>
            <a:endParaRPr lang="en-US" sz="1600" dirty="0"/>
          </a:p>
        </p:txBody>
      </p:sp>
      <p:sp>
        <p:nvSpPr>
          <p:cNvPr id="26" name="texto_73"/>
          <p:cNvSpPr txBox="1"/>
          <p:nvPr/>
        </p:nvSpPr>
        <p:spPr>
          <a:xfrm>
            <a:off x="868680" y="47548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2"/>
                </a:solidFill>
              </a:rPr>
              <a:t>Android Studio</a:t>
            </a:r>
            <a:endParaRPr lang="en-US" sz="1800" dirty="0"/>
          </a:p>
        </p:txBody>
      </p:sp>
      <p:sp>
        <p:nvSpPr>
          <p:cNvPr id="27" name="texto_74"/>
          <p:cNvSpPr txBox="1"/>
          <p:nvPr/>
        </p:nvSpPr>
        <p:spPr>
          <a:xfrm>
            <a:off x="868680" y="51663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App nativa en Java</a:t>
            </a:r>
            <a:endParaRPr lang="en-US" sz="1300" dirty="0"/>
          </a:p>
        </p:txBody>
      </p:sp>
      <p:sp>
        <p:nvSpPr>
          <p:cNvPr id="28" name="tarjeta_75"/>
          <p:cNvSpPr/>
          <p:nvPr/>
        </p:nvSpPr>
        <p:spPr>
          <a:xfrm>
            <a:off x="3401568" y="3794760"/>
            <a:ext cx="2606040" cy="205740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12700">
            <a:solidFill>
              <a:srgbClr val="2439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9" name="circulo_76"/>
          <p:cNvSpPr/>
          <p:nvPr/>
        </p:nvSpPr>
        <p:spPr>
          <a:xfrm>
            <a:off x="3630168" y="40690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icono_77"/>
          <p:cNvSpPr txBox="1"/>
          <p:nvPr/>
        </p:nvSpPr>
        <p:spPr>
          <a:xfrm>
            <a:off x="3630168" y="4069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</a:t>
            </a:r>
            <a:endParaRPr lang="en-US" sz="1600" dirty="0"/>
          </a:p>
        </p:txBody>
      </p:sp>
      <p:sp>
        <p:nvSpPr>
          <p:cNvPr id="31" name="texto_78"/>
          <p:cNvSpPr txBox="1"/>
          <p:nvPr/>
        </p:nvSpPr>
        <p:spPr>
          <a:xfrm>
            <a:off x="3630168" y="47548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2"/>
                </a:solidFill>
              </a:rPr>
              <a:t>Swing + FlatLaf</a:t>
            </a:r>
            <a:endParaRPr lang="en-US" sz="1800" dirty="0"/>
          </a:p>
        </p:txBody>
      </p:sp>
      <p:sp>
        <p:nvSpPr>
          <p:cNvPr id="32" name="texto_79"/>
          <p:cNvSpPr txBox="1"/>
          <p:nvPr/>
        </p:nvSpPr>
        <p:spPr>
          <a:xfrm>
            <a:off x="3630168" y="51663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Escritorio con tema oscuro</a:t>
            </a:r>
            <a:endParaRPr lang="en-US" sz="1300" dirty="0"/>
          </a:p>
        </p:txBody>
      </p:sp>
      <p:sp>
        <p:nvSpPr>
          <p:cNvPr id="33" name="tarjeta_80"/>
          <p:cNvSpPr/>
          <p:nvPr/>
        </p:nvSpPr>
        <p:spPr>
          <a:xfrm>
            <a:off x="6163056" y="3794760"/>
            <a:ext cx="2606040" cy="205740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12700">
            <a:solidFill>
              <a:srgbClr val="2439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4" name="circulo_81"/>
          <p:cNvSpPr/>
          <p:nvPr/>
        </p:nvSpPr>
        <p:spPr>
          <a:xfrm>
            <a:off x="6391656" y="406908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5" name="icono_82"/>
          <p:cNvSpPr txBox="1"/>
          <p:nvPr/>
        </p:nvSpPr>
        <p:spPr>
          <a:xfrm>
            <a:off x="6391656" y="4069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J</a:t>
            </a:r>
            <a:endParaRPr lang="en-US" sz="1600" dirty="0"/>
          </a:p>
        </p:txBody>
      </p:sp>
      <p:sp>
        <p:nvSpPr>
          <p:cNvPr id="36" name="texto_83"/>
          <p:cNvSpPr txBox="1"/>
          <p:nvPr/>
        </p:nvSpPr>
        <p:spPr>
          <a:xfrm>
            <a:off x="6391656" y="47548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2"/>
                </a:solidFill>
              </a:rPr>
              <a:t>JUnit 5</a:t>
            </a:r>
            <a:endParaRPr lang="en-US" sz="1800" dirty="0"/>
          </a:p>
        </p:txBody>
      </p:sp>
      <p:sp>
        <p:nvSpPr>
          <p:cNvPr id="37" name="texto_84"/>
          <p:cNvSpPr txBox="1"/>
          <p:nvPr/>
        </p:nvSpPr>
        <p:spPr>
          <a:xfrm>
            <a:off x="6391656" y="51663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Pruebas unitarias</a:t>
            </a:r>
            <a:endParaRPr lang="en-US" sz="1300" dirty="0"/>
          </a:p>
        </p:txBody>
      </p:sp>
      <p:sp>
        <p:nvSpPr>
          <p:cNvPr id="38" name="tarjeta_85"/>
          <p:cNvSpPr/>
          <p:nvPr/>
        </p:nvSpPr>
        <p:spPr>
          <a:xfrm>
            <a:off x="8924544" y="3794760"/>
            <a:ext cx="2606040" cy="205740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12700">
            <a:solidFill>
              <a:srgbClr val="2439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9" name="circulo_86"/>
          <p:cNvSpPr/>
          <p:nvPr/>
        </p:nvSpPr>
        <p:spPr>
          <a:xfrm>
            <a:off x="9153144" y="406908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0" name="icono_87"/>
          <p:cNvSpPr txBox="1"/>
          <p:nvPr/>
        </p:nvSpPr>
        <p:spPr>
          <a:xfrm>
            <a:off x="9153144" y="4069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</a:t>
            </a:r>
            <a:endParaRPr lang="en-US" sz="1600" dirty="0"/>
          </a:p>
        </p:txBody>
      </p:sp>
      <p:sp>
        <p:nvSpPr>
          <p:cNvPr id="41" name="texto_88"/>
          <p:cNvSpPr txBox="1"/>
          <p:nvPr/>
        </p:nvSpPr>
        <p:spPr>
          <a:xfrm>
            <a:off x="9153144" y="47548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2"/>
                </a:solidFill>
              </a:rPr>
              <a:t>PowerDesigner</a:t>
            </a:r>
            <a:endParaRPr lang="en-US" sz="1800" dirty="0"/>
          </a:p>
        </p:txBody>
      </p:sp>
      <p:sp>
        <p:nvSpPr>
          <p:cNvPr id="42" name="texto_89"/>
          <p:cNvSpPr txBox="1"/>
          <p:nvPr/>
        </p:nvSpPr>
        <p:spPr>
          <a:xfrm>
            <a:off x="9153144" y="51663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Diagramas UML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2"/>
                </a:solidFill>
              </a:rPr>
              <a:t>Servidor RESTful y seguridad</a:t>
            </a:r>
            <a:endParaRPr lang="en-US" sz="3200" dirty="0"/>
          </a:p>
        </p:txBody>
      </p:sp>
      <p:sp>
        <p:nvSpPr>
          <p:cNvPr id="3" name="tarjeta_90"/>
          <p:cNvSpPr/>
          <p:nvPr/>
        </p:nvSpPr>
        <p:spPr>
          <a:xfrm>
            <a:off x="640080" y="1371600"/>
            <a:ext cx="6035040" cy="1005840"/>
          </a:xfrm>
          <a:prstGeom prst="roundRect">
            <a:avLst>
              <a:gd name="adj" fmla="val 13636"/>
            </a:avLst>
          </a:prstGeom>
          <a:solidFill>
            <a:schemeClr val="tx2"/>
          </a:solidFill>
          <a:ln w="12700">
            <a:solidFill>
              <a:srgbClr val="2439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4" name="circulo_91"/>
          <p:cNvSpPr/>
          <p:nvPr/>
        </p:nvSpPr>
        <p:spPr>
          <a:xfrm>
            <a:off x="868680" y="1572768"/>
            <a:ext cx="603504" cy="60350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icono_92"/>
          <p:cNvSpPr txBox="1"/>
          <p:nvPr/>
        </p:nvSpPr>
        <p:spPr>
          <a:xfrm>
            <a:off x="868680" y="157276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o_93"/>
          <p:cNvSpPr txBox="1"/>
          <p:nvPr/>
        </p:nvSpPr>
        <p:spPr>
          <a:xfrm>
            <a:off x="1691640" y="149047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2"/>
                </a:solidFill>
              </a:rPr>
              <a:t>Login</a:t>
            </a:r>
            <a:endParaRPr lang="en-US" sz="1800" dirty="0"/>
          </a:p>
        </p:txBody>
      </p:sp>
      <p:sp>
        <p:nvSpPr>
          <p:cNvPr id="7" name="texto_94"/>
          <p:cNvSpPr txBox="1"/>
          <p:nvPr/>
        </p:nvSpPr>
        <p:spPr>
          <a:xfrm>
            <a:off x="1691640" y="184708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Usuario y clave → la clave se compara como hash SHA-256 (nunca en texto plano)</a:t>
            </a:r>
            <a:endParaRPr lang="en-US" sz="1300" dirty="0"/>
          </a:p>
        </p:txBody>
      </p:sp>
      <p:sp>
        <p:nvSpPr>
          <p:cNvPr id="8" name="tarjeta_95"/>
          <p:cNvSpPr/>
          <p:nvPr/>
        </p:nvSpPr>
        <p:spPr>
          <a:xfrm>
            <a:off x="640080" y="2560320"/>
            <a:ext cx="6035040" cy="1005840"/>
          </a:xfrm>
          <a:prstGeom prst="roundRect">
            <a:avLst>
              <a:gd name="adj" fmla="val 13636"/>
            </a:avLst>
          </a:prstGeom>
          <a:solidFill>
            <a:schemeClr val="tx2"/>
          </a:solidFill>
          <a:ln w="12700">
            <a:solidFill>
              <a:srgbClr val="2439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circulo_96"/>
          <p:cNvSpPr/>
          <p:nvPr/>
        </p:nvSpPr>
        <p:spPr>
          <a:xfrm>
            <a:off x="868680" y="2761488"/>
            <a:ext cx="603504" cy="60350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icono_97"/>
          <p:cNvSpPr txBox="1"/>
          <p:nvPr/>
        </p:nvSpPr>
        <p:spPr>
          <a:xfrm>
            <a:off x="868680" y="276148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o_98"/>
          <p:cNvSpPr txBox="1"/>
          <p:nvPr/>
        </p:nvSpPr>
        <p:spPr>
          <a:xfrm>
            <a:off x="1691640" y="267919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2"/>
                </a:solidFill>
              </a:rPr>
              <a:t>Token</a:t>
            </a:r>
            <a:endParaRPr lang="en-US" sz="1800" dirty="0"/>
          </a:p>
        </p:txBody>
      </p:sp>
      <p:sp>
        <p:nvSpPr>
          <p:cNvPr id="12" name="texto_99"/>
          <p:cNvSpPr txBox="1"/>
          <p:nvPr/>
        </p:nvSpPr>
        <p:spPr>
          <a:xfrm>
            <a:off x="1691640" y="303580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Token aleatorio de 256 bits, válido 30 minutos, guardado en memoria</a:t>
            </a:r>
            <a:endParaRPr lang="en-US" sz="1300" dirty="0"/>
          </a:p>
        </p:txBody>
      </p:sp>
      <p:sp>
        <p:nvSpPr>
          <p:cNvPr id="13" name="tarjeta_100"/>
          <p:cNvSpPr/>
          <p:nvPr/>
        </p:nvSpPr>
        <p:spPr>
          <a:xfrm>
            <a:off x="640080" y="3749040"/>
            <a:ext cx="6035040" cy="1005840"/>
          </a:xfrm>
          <a:prstGeom prst="roundRect">
            <a:avLst>
              <a:gd name="adj" fmla="val 13636"/>
            </a:avLst>
          </a:prstGeom>
          <a:solidFill>
            <a:schemeClr val="tx2"/>
          </a:solidFill>
          <a:ln w="12700">
            <a:solidFill>
              <a:srgbClr val="2439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circulo_101"/>
          <p:cNvSpPr/>
          <p:nvPr/>
        </p:nvSpPr>
        <p:spPr>
          <a:xfrm>
            <a:off x="868680" y="3950208"/>
            <a:ext cx="603504" cy="603504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icono_102"/>
          <p:cNvSpPr txBox="1"/>
          <p:nvPr/>
        </p:nvSpPr>
        <p:spPr>
          <a:xfrm>
            <a:off x="868680" y="395020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o_103"/>
          <p:cNvSpPr txBox="1"/>
          <p:nvPr/>
        </p:nvSpPr>
        <p:spPr>
          <a:xfrm>
            <a:off x="1691640" y="386791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2"/>
                </a:solidFill>
              </a:rPr>
              <a:t>Filtro @Seguro</a:t>
            </a:r>
            <a:endParaRPr lang="en-US" sz="1800" dirty="0"/>
          </a:p>
        </p:txBody>
      </p:sp>
      <p:sp>
        <p:nvSpPr>
          <p:cNvPr id="17" name="texto_104"/>
          <p:cNvSpPr txBox="1"/>
          <p:nvPr/>
        </p:nvSpPr>
        <p:spPr>
          <a:xfrm>
            <a:off x="1691640" y="422452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Cada petición valida “Authorization: Bearer token”; si falla → HTTP 401</a:t>
            </a:r>
            <a:endParaRPr lang="en-US" sz="1300" dirty="0"/>
          </a:p>
        </p:txBody>
      </p:sp>
      <p:sp>
        <p:nvSpPr>
          <p:cNvPr id="18" name="tarjeta_105"/>
          <p:cNvSpPr/>
          <p:nvPr/>
        </p:nvSpPr>
        <p:spPr>
          <a:xfrm>
            <a:off x="640080" y="4937760"/>
            <a:ext cx="6035040" cy="1005840"/>
          </a:xfrm>
          <a:prstGeom prst="roundRect">
            <a:avLst>
              <a:gd name="adj" fmla="val 13636"/>
            </a:avLst>
          </a:prstGeom>
          <a:solidFill>
            <a:schemeClr val="tx2"/>
          </a:solidFill>
          <a:ln w="12700">
            <a:solidFill>
              <a:srgbClr val="2439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circulo_106"/>
          <p:cNvSpPr/>
          <p:nvPr/>
        </p:nvSpPr>
        <p:spPr>
          <a:xfrm>
            <a:off x="868680" y="5138928"/>
            <a:ext cx="603504" cy="603504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0" name="icono_107"/>
          <p:cNvSpPr txBox="1"/>
          <p:nvPr/>
        </p:nvSpPr>
        <p:spPr>
          <a:xfrm>
            <a:off x="868680" y="513892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o_108"/>
          <p:cNvSpPr txBox="1"/>
          <p:nvPr/>
        </p:nvSpPr>
        <p:spPr>
          <a:xfrm>
            <a:off x="1691640" y="505663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2"/>
                </a:solidFill>
              </a:rPr>
              <a:t>Logout</a:t>
            </a:r>
            <a:endParaRPr lang="en-US" sz="1800" dirty="0"/>
          </a:p>
        </p:txBody>
      </p:sp>
      <p:sp>
        <p:nvSpPr>
          <p:cNvPr id="22" name="texto_109"/>
          <p:cNvSpPr txBox="1"/>
          <p:nvPr/>
        </p:nvSpPr>
        <p:spPr>
          <a:xfrm>
            <a:off x="1691640" y="541324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Elimina el token y el historial de la sesión</a:t>
            </a:r>
            <a:endParaRPr lang="en-US" sz="1300" dirty="0"/>
          </a:p>
        </p:txBody>
      </p:sp>
      <p:sp>
        <p:nvSpPr>
          <p:cNvPr id="23" name="tarjeta_110"/>
          <p:cNvSpPr/>
          <p:nvPr/>
        </p:nvSpPr>
        <p:spPr>
          <a:xfrm>
            <a:off x="7040880" y="1371600"/>
            <a:ext cx="4572000" cy="4572000"/>
          </a:xfrm>
          <a:prstGeom prst="roundRect">
            <a:avLst>
              <a:gd name="adj" fmla="val 3000"/>
            </a:avLst>
          </a:prstGeom>
          <a:solidFill>
            <a:schemeClr val="tx2"/>
          </a:solidFill>
          <a:ln w="12700">
            <a:solidFill>
              <a:srgbClr val="2439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4" name="texto_111"/>
          <p:cNvSpPr txBox="1"/>
          <p:nvPr/>
        </p:nvSpPr>
        <p:spPr>
          <a:xfrm>
            <a:off x="7315200" y="15544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Respuesta estándar</a:t>
            </a:r>
            <a:endParaRPr lang="en-US" sz="1800" dirty="0"/>
          </a:p>
        </p:txBody>
      </p:sp>
      <p:sp>
        <p:nvSpPr>
          <p:cNvPr id="25" name="json_ejemplo"/>
          <p:cNvSpPr txBox="1"/>
          <p:nvPr/>
        </p:nvSpPr>
        <p:spPr>
          <a:xfrm>
            <a:off x="7315200" y="2057400"/>
            <a:ext cx="4069080" cy="2743200"/>
          </a:xfrm>
          <a:prstGeom prst="rect">
            <a:avLst/>
          </a:prstGeom>
          <a:solidFill>
            <a:schemeClr val="tx1"/>
          </a:solidFill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"exito": true,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"mensaje": "Conversión exitosa",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"datos":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"magnitud": "MASA",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"resultado": 90.7185,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"detalle": "2 qq = 90.7185 kg"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26" name="texto_112"/>
          <p:cNvSpPr txBox="1"/>
          <p:nvPr/>
        </p:nvSpPr>
        <p:spPr>
          <a:xfrm>
            <a:off x="7315200" y="502920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Errores: 400 datos inválidos · 401 sin sesión · 500 interno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2"/>
                </a:solidFill>
              </a:rPr>
              <a:t>Endpoints de la API /api</a:t>
            </a:r>
            <a:endParaRPr lang="en-US" sz="3200" dirty="0"/>
          </a:p>
        </p:txBody>
      </p:sp>
      <p:graphicFrame>
        <p:nvGraphicFramePr>
          <p:cNvPr id="8" name="tabla_endpoint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17320"/>
          <a:ext cx="1088136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3291840"/>
                <a:gridCol w="1005840"/>
                <a:gridCol w="539496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Método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Ruta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Token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Descripción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1"/>
                          </a:solidFill>
                        </a:rPr>
                        <a:t>POST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bg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/auth/login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bg2"/>
                          </a:solidFill>
                        </a:rPr>
                        <a:t>No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bg2"/>
                          </a:solidFill>
                        </a:rPr>
                        <a:t>Inicia sesión y devuelve el token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1"/>
                          </a:solidFill>
                        </a:rPr>
                        <a:t>POST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bg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/auth/logout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bg2"/>
                          </a:solidFill>
                        </a:rPr>
                        <a:t>Sí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bg2"/>
                          </a:solidFill>
                        </a:rPr>
                        <a:t>Cierra la sesión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3"/>
                          </a:solidFill>
                        </a:rPr>
                        <a:t>GET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bg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/conversiones/unidades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bg2"/>
                          </a:solidFill>
                        </a:rPr>
                        <a:t>Sí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bg2"/>
                          </a:solidFill>
                        </a:rPr>
                        <a:t>Catálogo de magnitudes y unidades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1"/>
                          </a:solidFill>
                        </a:rPr>
                        <a:t>POST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bg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/conversiones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bg2"/>
                          </a:solidFill>
                        </a:rPr>
                        <a:t>Sí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bg2"/>
                          </a:solidFill>
                        </a:rPr>
                        <a:t>Convierte {magnitud, origen, destino, valor}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3"/>
                          </a:solidFill>
                        </a:rPr>
                        <a:t>GET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bg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/conversiones/historial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bg2"/>
                          </a:solidFill>
                        </a:rPr>
                        <a:t>Sí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bg2"/>
                          </a:solidFill>
                        </a:rPr>
                        <a:t>Historial de la sesión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3"/>
                          </a:solidFill>
                        </a:rPr>
                        <a:t>GET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bg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/estado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bg2"/>
                          </a:solidFill>
                        </a:rPr>
                        <a:t>No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bg2"/>
                          </a:solidFill>
                        </a:rPr>
                        <a:t>Estado del servidor para el panel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</a:tbl>
          </a:graphicData>
        </a:graphic>
      </p:graphicFrame>
      <p:sp>
        <p:nvSpPr>
          <p:cNvPr id="4" name="texto_113"/>
          <p:cNvSpPr txBox="1"/>
          <p:nvPr/>
        </p:nvSpPr>
        <p:spPr>
          <a:xfrm>
            <a:off x="640080" y="55778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Todos los clientes envían el encabezado X-Cliente (CONSOLA, ESCRITORIO, WEB, MOVIL) para identificarse en el panel.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2"/>
                </a:solidFill>
              </a:rPr>
              <a:t>4 magnitudes · 18 unidades · 4 decimales</a:t>
            </a:r>
            <a:endParaRPr lang="en-US" sz="3200" dirty="0"/>
          </a:p>
        </p:txBody>
      </p:sp>
      <p:sp>
        <p:nvSpPr>
          <p:cNvPr id="3" name="tarjeta_114"/>
          <p:cNvSpPr/>
          <p:nvPr/>
        </p:nvSpPr>
        <p:spPr>
          <a:xfrm>
            <a:off x="640080" y="1417320"/>
            <a:ext cx="2606040" cy="4206240"/>
          </a:xfrm>
          <a:prstGeom prst="roundRect">
            <a:avLst>
              <a:gd name="adj" fmla="val 5263"/>
            </a:avLst>
          </a:prstGeom>
          <a:solidFill>
            <a:schemeClr val="tx2"/>
          </a:solidFill>
          <a:ln w="254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4" name="texto_115"/>
          <p:cNvSpPr txBox="1"/>
          <p:nvPr/>
        </p:nvSpPr>
        <p:spPr>
          <a:xfrm>
            <a:off x="868680" y="16459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Longitud</a:t>
            </a:r>
            <a:endParaRPr lang="en-US" sz="2200" dirty="0"/>
          </a:p>
        </p:txBody>
      </p:sp>
      <p:sp>
        <p:nvSpPr>
          <p:cNvPr id="5" name="texto_116"/>
          <p:cNvSpPr txBox="1"/>
          <p:nvPr/>
        </p:nvSpPr>
        <p:spPr>
          <a:xfrm>
            <a:off x="868680" y="21031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Base: metro</a:t>
            </a:r>
            <a:endParaRPr lang="en-US" sz="1300" dirty="0"/>
          </a:p>
        </p:txBody>
      </p:sp>
      <p:sp>
        <p:nvSpPr>
          <p:cNvPr id="6" name="texto_117"/>
          <p:cNvSpPr txBox="1"/>
          <p:nvPr/>
        </p:nvSpPr>
        <p:spPr>
          <a:xfrm>
            <a:off x="868680" y="2606040"/>
            <a:ext cx="2194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Centímetros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Metros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Kilómetros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Pies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Millas</a:t>
            </a:r>
            <a:endParaRPr lang="en-US" sz="1600" dirty="0"/>
          </a:p>
        </p:txBody>
      </p:sp>
      <p:sp>
        <p:nvSpPr>
          <p:cNvPr id="7" name="tarjeta_118"/>
          <p:cNvSpPr/>
          <p:nvPr/>
        </p:nvSpPr>
        <p:spPr>
          <a:xfrm>
            <a:off x="3401568" y="1417320"/>
            <a:ext cx="2606040" cy="4206240"/>
          </a:xfrm>
          <a:prstGeom prst="roundRect">
            <a:avLst>
              <a:gd name="adj" fmla="val 5263"/>
            </a:avLst>
          </a:prstGeom>
          <a:solidFill>
            <a:schemeClr val="tx2"/>
          </a:solidFill>
          <a:ln w="25400">
            <a:solidFill>
              <a:schemeClr val="accent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o_119"/>
          <p:cNvSpPr txBox="1"/>
          <p:nvPr/>
        </p:nvSpPr>
        <p:spPr>
          <a:xfrm>
            <a:off x="3630168" y="16459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Masa</a:t>
            </a:r>
            <a:endParaRPr lang="en-US" sz="2200" dirty="0"/>
          </a:p>
        </p:txBody>
      </p:sp>
      <p:sp>
        <p:nvSpPr>
          <p:cNvPr id="9" name="texto_120"/>
          <p:cNvSpPr txBox="1"/>
          <p:nvPr/>
        </p:nvSpPr>
        <p:spPr>
          <a:xfrm>
            <a:off x="3630168" y="21031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Base: kilogramo</a:t>
            </a:r>
            <a:endParaRPr lang="en-US" sz="1300" dirty="0"/>
          </a:p>
        </p:txBody>
      </p:sp>
      <p:sp>
        <p:nvSpPr>
          <p:cNvPr id="10" name="texto_121"/>
          <p:cNvSpPr txBox="1"/>
          <p:nvPr/>
        </p:nvSpPr>
        <p:spPr>
          <a:xfrm>
            <a:off x="3630168" y="2606040"/>
            <a:ext cx="2194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Gramos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Kilogramos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Onzas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Libras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Quintales</a:t>
            </a:r>
            <a:endParaRPr lang="en-US" sz="1600" dirty="0"/>
          </a:p>
        </p:txBody>
      </p:sp>
      <p:sp>
        <p:nvSpPr>
          <p:cNvPr id="11" name="tarjeta_122"/>
          <p:cNvSpPr/>
          <p:nvPr/>
        </p:nvSpPr>
        <p:spPr>
          <a:xfrm>
            <a:off x="6163056" y="1417320"/>
            <a:ext cx="2606040" cy="4206240"/>
          </a:xfrm>
          <a:prstGeom prst="roundRect">
            <a:avLst>
              <a:gd name="adj" fmla="val 5263"/>
            </a:avLst>
          </a:prstGeom>
          <a:solidFill>
            <a:schemeClr val="tx2"/>
          </a:solidFill>
          <a:ln w="254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texto_123"/>
          <p:cNvSpPr txBox="1"/>
          <p:nvPr/>
        </p:nvSpPr>
        <p:spPr>
          <a:xfrm>
            <a:off x="6391656" y="16459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4"/>
                </a:solidFill>
              </a:rPr>
              <a:t>Temperatura</a:t>
            </a:r>
            <a:endParaRPr lang="en-US" sz="2200" dirty="0"/>
          </a:p>
        </p:txBody>
      </p:sp>
      <p:sp>
        <p:nvSpPr>
          <p:cNvPr id="13" name="texto_124"/>
          <p:cNvSpPr txBox="1"/>
          <p:nvPr/>
        </p:nvSpPr>
        <p:spPr>
          <a:xfrm>
            <a:off x="6391656" y="21031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Base: grado Celsius</a:t>
            </a:r>
            <a:endParaRPr lang="en-US" sz="1300" dirty="0"/>
          </a:p>
        </p:txBody>
      </p:sp>
      <p:sp>
        <p:nvSpPr>
          <p:cNvPr id="14" name="texto_125"/>
          <p:cNvSpPr txBox="1"/>
          <p:nvPr/>
        </p:nvSpPr>
        <p:spPr>
          <a:xfrm>
            <a:off x="6391656" y="2606040"/>
            <a:ext cx="2194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Celsius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Fahrenheit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Kelvin</a:t>
            </a:r>
            <a:endParaRPr lang="en-US" sz="1600" dirty="0"/>
          </a:p>
        </p:txBody>
      </p:sp>
      <p:sp>
        <p:nvSpPr>
          <p:cNvPr id="15" name="tarjeta_126"/>
          <p:cNvSpPr/>
          <p:nvPr/>
        </p:nvSpPr>
        <p:spPr>
          <a:xfrm>
            <a:off x="8924544" y="1417320"/>
            <a:ext cx="2606040" cy="4206240"/>
          </a:xfrm>
          <a:prstGeom prst="roundRect">
            <a:avLst>
              <a:gd name="adj" fmla="val 5263"/>
            </a:avLst>
          </a:prstGeom>
          <a:solidFill>
            <a:schemeClr val="tx2"/>
          </a:solidFill>
          <a:ln w="254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texto_127"/>
          <p:cNvSpPr txBox="1"/>
          <p:nvPr/>
        </p:nvSpPr>
        <p:spPr>
          <a:xfrm>
            <a:off x="9153144" y="16459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5"/>
                </a:solidFill>
              </a:rPr>
              <a:t>Tiempo</a:t>
            </a:r>
            <a:endParaRPr lang="en-US" sz="2200" dirty="0"/>
          </a:p>
        </p:txBody>
      </p:sp>
      <p:sp>
        <p:nvSpPr>
          <p:cNvPr id="17" name="texto_128"/>
          <p:cNvSpPr txBox="1"/>
          <p:nvPr/>
        </p:nvSpPr>
        <p:spPr>
          <a:xfrm>
            <a:off x="9153144" y="21031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Base: segundo</a:t>
            </a:r>
            <a:endParaRPr lang="en-US" sz="1300" dirty="0"/>
          </a:p>
        </p:txBody>
      </p:sp>
      <p:sp>
        <p:nvSpPr>
          <p:cNvPr id="18" name="texto_129"/>
          <p:cNvSpPr txBox="1"/>
          <p:nvPr/>
        </p:nvSpPr>
        <p:spPr>
          <a:xfrm>
            <a:off x="9153144" y="2606040"/>
            <a:ext cx="2194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Segundos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Minutos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Horas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Días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Semanas</a:t>
            </a:r>
            <a:endParaRPr lang="en-US" sz="1600" dirty="0"/>
          </a:p>
        </p:txBody>
      </p:sp>
      <p:sp>
        <p:nvSpPr>
          <p:cNvPr id="19" name="texto_130"/>
          <p:cNvSpPr txBox="1"/>
          <p:nvPr/>
        </p:nvSpPr>
        <p:spPr>
          <a:xfrm>
            <a:off x="640080" y="58064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Conversión en dos pasos: valor → unidad base → unidad destino. La temperatura no admite valores bajo el cero absoluto.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2"/>
                </a:solidFill>
              </a:rPr>
              <a:t>Panel de monitoreo en tiempo real</a:t>
            </a:r>
            <a:endParaRPr lang="en-US" sz="3200" dirty="0"/>
          </a:p>
        </p:txBody>
      </p:sp>
      <p:sp>
        <p:nvSpPr>
          <p:cNvPr id="3" name="tarjeta_131"/>
          <p:cNvSpPr/>
          <p:nvPr/>
        </p:nvSpPr>
        <p:spPr>
          <a:xfrm>
            <a:off x="612648" y="1298448"/>
            <a:ext cx="5084064" cy="4992624"/>
          </a:xfrm>
          <a:prstGeom prst="roundRect">
            <a:avLst>
              <a:gd name="adj" fmla="val 2747"/>
            </a:avLst>
          </a:prstGeom>
          <a:solidFill>
            <a:srgbClr val="1A2B4B"/>
          </a:solidFill>
          <a:ln w="12700">
            <a:solidFill>
              <a:srgbClr val="2439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4" name="imagen_132" descr="ev_panel_movi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371600"/>
            <a:ext cx="4937760" cy="4846320"/>
          </a:xfrm>
          <a:prstGeom prst="rect">
            <a:avLst/>
          </a:prstGeom>
        </p:spPr>
      </p:pic>
      <p:sp>
        <p:nvSpPr>
          <p:cNvPr id="5" name="tarjeta_133"/>
          <p:cNvSpPr/>
          <p:nvPr/>
        </p:nvSpPr>
        <p:spPr>
          <a:xfrm>
            <a:off x="6126480" y="1417320"/>
            <a:ext cx="5486400" cy="1005840"/>
          </a:xfrm>
          <a:prstGeom prst="roundRect">
            <a:avLst>
              <a:gd name="adj" fmla="val 13636"/>
            </a:avLst>
          </a:prstGeom>
          <a:solidFill>
            <a:schemeClr val="tx2"/>
          </a:solidFill>
          <a:ln w="12700">
            <a:solidFill>
              <a:srgbClr val="2439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o_134"/>
          <p:cNvSpPr txBox="1"/>
          <p:nvPr/>
        </p:nvSpPr>
        <p:spPr>
          <a:xfrm>
            <a:off x="6400800" y="153619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Peticiones en vivo</a:t>
            </a:r>
            <a:endParaRPr lang="en-US" sz="1800" dirty="0"/>
          </a:p>
        </p:txBody>
      </p:sp>
      <p:sp>
        <p:nvSpPr>
          <p:cNvPr id="7" name="texto_135"/>
          <p:cNvSpPr txBox="1"/>
          <p:nvPr/>
        </p:nvSpPr>
        <p:spPr>
          <a:xfrm>
            <a:off x="6400800" y="19202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Cada llamada aparece con la etiqueta del cliente que la hizo</a:t>
            </a:r>
            <a:endParaRPr lang="en-US" sz="1400" dirty="0"/>
          </a:p>
        </p:txBody>
      </p:sp>
      <p:sp>
        <p:nvSpPr>
          <p:cNvPr id="8" name="tarjeta_136"/>
          <p:cNvSpPr/>
          <p:nvPr/>
        </p:nvSpPr>
        <p:spPr>
          <a:xfrm>
            <a:off x="6126480" y="2606040"/>
            <a:ext cx="5486400" cy="1005840"/>
          </a:xfrm>
          <a:prstGeom prst="roundRect">
            <a:avLst>
              <a:gd name="adj" fmla="val 13636"/>
            </a:avLst>
          </a:prstGeom>
          <a:solidFill>
            <a:schemeClr val="tx2"/>
          </a:solidFill>
          <a:ln w="12700">
            <a:solidFill>
              <a:srgbClr val="2439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o_137"/>
          <p:cNvSpPr txBox="1"/>
          <p:nvPr/>
        </p:nvSpPr>
        <p:spPr>
          <a:xfrm>
            <a:off x="6400800" y="272491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Contadores animados</a:t>
            </a:r>
            <a:endParaRPr lang="en-US" sz="1800" dirty="0"/>
          </a:p>
        </p:txBody>
      </p:sp>
      <p:sp>
        <p:nvSpPr>
          <p:cNvPr id="10" name="texto_138"/>
          <p:cNvSpPr txBox="1"/>
          <p:nvPr/>
        </p:nvSpPr>
        <p:spPr>
          <a:xfrm>
            <a:off x="6400800" y="31089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Tiempo activo, sesiones vigentes, conversiones y peticiones</a:t>
            </a:r>
            <a:endParaRPr lang="en-US" sz="1400" dirty="0"/>
          </a:p>
        </p:txBody>
      </p:sp>
      <p:sp>
        <p:nvSpPr>
          <p:cNvPr id="11" name="tarjeta_139"/>
          <p:cNvSpPr/>
          <p:nvPr/>
        </p:nvSpPr>
        <p:spPr>
          <a:xfrm>
            <a:off x="6126480" y="3794760"/>
            <a:ext cx="5486400" cy="1005840"/>
          </a:xfrm>
          <a:prstGeom prst="roundRect">
            <a:avLst>
              <a:gd name="adj" fmla="val 13636"/>
            </a:avLst>
          </a:prstGeom>
          <a:solidFill>
            <a:schemeClr val="tx2"/>
          </a:solidFill>
          <a:ln w="12700">
            <a:solidFill>
              <a:srgbClr val="2439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texto_140"/>
          <p:cNvSpPr txBox="1"/>
          <p:nvPr/>
        </p:nvSpPr>
        <p:spPr>
          <a:xfrm>
            <a:off x="6400800" y="391363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Por magnitud</a:t>
            </a:r>
            <a:endParaRPr lang="en-US" sz="1800" dirty="0"/>
          </a:p>
        </p:txBody>
      </p:sp>
      <p:sp>
        <p:nvSpPr>
          <p:cNvPr id="13" name="texto_141"/>
          <p:cNvSpPr txBox="1"/>
          <p:nvPr/>
        </p:nvSpPr>
        <p:spPr>
          <a:xfrm>
            <a:off x="6400800" y="42976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Barras de colores con el uso de cada magnitud</a:t>
            </a:r>
            <a:endParaRPr lang="en-US" sz="1400" dirty="0"/>
          </a:p>
        </p:txBody>
      </p:sp>
      <p:sp>
        <p:nvSpPr>
          <p:cNvPr id="14" name="tarjeta_142"/>
          <p:cNvSpPr/>
          <p:nvPr/>
        </p:nvSpPr>
        <p:spPr>
          <a:xfrm>
            <a:off x="6126480" y="4983480"/>
            <a:ext cx="5486400" cy="1005840"/>
          </a:xfrm>
          <a:prstGeom prst="roundRect">
            <a:avLst>
              <a:gd name="adj" fmla="val 13636"/>
            </a:avLst>
          </a:prstGeom>
          <a:solidFill>
            <a:schemeClr val="tx2"/>
          </a:solidFill>
          <a:ln w="12700">
            <a:solidFill>
              <a:srgbClr val="2439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texto_143"/>
          <p:cNvSpPr txBox="1"/>
          <p:nvPr/>
        </p:nvSpPr>
        <p:spPr>
          <a:xfrm>
            <a:off x="6400800" y="510235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Prueba rápida</a:t>
            </a:r>
            <a:endParaRPr lang="en-US" sz="1800" dirty="0"/>
          </a:p>
        </p:txBody>
      </p:sp>
      <p:sp>
        <p:nvSpPr>
          <p:cNvPr id="16" name="texto_144"/>
          <p:cNvSpPr txBox="1"/>
          <p:nvPr/>
        </p:nvSpPr>
        <p:spPr>
          <a:xfrm>
            <a:off x="6400800" y="54864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Login y conversión desde el propio panel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2"/>
                </a:solidFill>
              </a:rPr>
              <a:t>Clientes de consola y escritorio</a:t>
            </a:r>
            <a:endParaRPr lang="en-US" sz="3200" dirty="0"/>
          </a:p>
        </p:txBody>
      </p:sp>
      <p:sp>
        <p:nvSpPr>
          <p:cNvPr id="3" name="tarjeta_145"/>
          <p:cNvSpPr/>
          <p:nvPr/>
        </p:nvSpPr>
        <p:spPr>
          <a:xfrm>
            <a:off x="612648" y="1298448"/>
            <a:ext cx="5449824" cy="3438144"/>
          </a:xfrm>
          <a:prstGeom prst="roundRect">
            <a:avLst>
              <a:gd name="adj" fmla="val 3989"/>
            </a:avLst>
          </a:prstGeom>
          <a:solidFill>
            <a:srgbClr val="1A2B4B"/>
          </a:solidFill>
          <a:ln w="12700">
            <a:solidFill>
              <a:srgbClr val="2439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4" name="imagen_146" descr="ev_consola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371600"/>
            <a:ext cx="5303520" cy="3291840"/>
          </a:xfrm>
          <a:prstGeom prst="rect">
            <a:avLst/>
          </a:prstGeom>
        </p:spPr>
      </p:pic>
      <p:sp>
        <p:nvSpPr>
          <p:cNvPr id="5" name="tarjeta_147"/>
          <p:cNvSpPr/>
          <p:nvPr/>
        </p:nvSpPr>
        <p:spPr>
          <a:xfrm>
            <a:off x="6281928" y="1298448"/>
            <a:ext cx="5312664" cy="3438144"/>
          </a:xfrm>
          <a:prstGeom prst="roundRect">
            <a:avLst>
              <a:gd name="adj" fmla="val 3989"/>
            </a:avLst>
          </a:prstGeom>
          <a:solidFill>
            <a:srgbClr val="1A2B4B"/>
          </a:solidFill>
          <a:ln w="12700">
            <a:solidFill>
              <a:srgbClr val="2439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n_148" descr="ev_esc_login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55080" y="1371600"/>
            <a:ext cx="5166360" cy="3291840"/>
          </a:xfrm>
          <a:prstGeom prst="rect">
            <a:avLst/>
          </a:prstGeom>
        </p:spPr>
      </p:pic>
      <p:sp>
        <p:nvSpPr>
          <p:cNvPr id="7" name="texto_149"/>
          <p:cNvSpPr txBox="1"/>
          <p:nvPr/>
        </p:nvSpPr>
        <p:spPr>
          <a:xfrm>
            <a:off x="685800" y="498348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5"/>
                </a:solidFill>
              </a:rPr>
              <a:t>Consola: </a:t>
            </a:r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menú numérico, colores ANSI y animación del resultado</a:t>
            </a:r>
            <a:endParaRPr lang="en-US" sz="1500" dirty="0"/>
          </a:p>
        </p:txBody>
      </p:sp>
      <p:sp>
        <p:nvSpPr>
          <p:cNvPr id="8" name="texto_150"/>
          <p:cNvSpPr txBox="1"/>
          <p:nvPr/>
        </p:nvSpPr>
        <p:spPr>
          <a:xfrm>
            <a:off x="6355080" y="4983480"/>
            <a:ext cx="5166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Escritorio: </a:t>
            </a:r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Swing con tema oscuro, Monster flotando y resultado que sube contando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2"/>
                </a:solidFill>
              </a:rPr>
              <a:t>Cliente web (Servlets + JSP)</a:t>
            </a:r>
            <a:endParaRPr lang="en-US" sz="3200" dirty="0"/>
          </a:p>
        </p:txBody>
      </p:sp>
      <p:sp>
        <p:nvSpPr>
          <p:cNvPr id="3" name="tarjeta_151"/>
          <p:cNvSpPr/>
          <p:nvPr/>
        </p:nvSpPr>
        <p:spPr>
          <a:xfrm>
            <a:off x="612648" y="1298448"/>
            <a:ext cx="4078224" cy="4901184"/>
          </a:xfrm>
          <a:prstGeom prst="roundRect">
            <a:avLst>
              <a:gd name="adj" fmla="val 3363"/>
            </a:avLst>
          </a:prstGeom>
          <a:solidFill>
            <a:srgbClr val="1A2B4B"/>
          </a:solidFill>
          <a:ln w="12700">
            <a:solidFill>
              <a:srgbClr val="2439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4" name="imagen_152" descr="ev_web_logi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371600"/>
            <a:ext cx="3931920" cy="4754880"/>
          </a:xfrm>
          <a:prstGeom prst="rect">
            <a:avLst/>
          </a:prstGeom>
        </p:spPr>
      </p:pic>
      <p:sp>
        <p:nvSpPr>
          <p:cNvPr id="5" name="tarjeta_153"/>
          <p:cNvSpPr/>
          <p:nvPr/>
        </p:nvSpPr>
        <p:spPr>
          <a:xfrm>
            <a:off x="4910328" y="1298448"/>
            <a:ext cx="4078224" cy="4901184"/>
          </a:xfrm>
          <a:prstGeom prst="roundRect">
            <a:avLst>
              <a:gd name="adj" fmla="val 3363"/>
            </a:avLst>
          </a:prstGeom>
          <a:solidFill>
            <a:srgbClr val="1A2B4B"/>
          </a:solidFill>
          <a:ln w="12700">
            <a:solidFill>
              <a:srgbClr val="2439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n_154" descr="ev_web_conversor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983480" y="1371600"/>
            <a:ext cx="3931920" cy="4754880"/>
          </a:xfrm>
          <a:prstGeom prst="rect">
            <a:avLst/>
          </a:prstGeom>
        </p:spPr>
      </p:pic>
      <p:sp>
        <p:nvSpPr>
          <p:cNvPr id="7" name="tarjeta_155"/>
          <p:cNvSpPr/>
          <p:nvPr/>
        </p:nvSpPr>
        <p:spPr>
          <a:xfrm>
            <a:off x="9281160" y="1371600"/>
            <a:ext cx="2331720" cy="4754880"/>
          </a:xfrm>
          <a:prstGeom prst="roundRect">
            <a:avLst>
              <a:gd name="adj" fmla="val 5882"/>
            </a:avLst>
          </a:prstGeom>
          <a:solidFill>
            <a:schemeClr val="tx2"/>
          </a:solidFill>
          <a:ln w="12700">
            <a:solidFill>
              <a:srgbClr val="2439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o_156"/>
          <p:cNvSpPr txBox="1"/>
          <p:nvPr/>
        </p:nvSpPr>
        <p:spPr>
          <a:xfrm>
            <a:off x="9464040" y="1600200"/>
            <a:ext cx="201168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accent2"/>
                </a:solidFill>
              </a:rPr>
              <a:t>MVC en Payara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Servlets = controlador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JSP = vista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ServicioRest = modelo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Pestañas por color, resultado animado e historial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2"/>
                </a:solidFill>
              </a:rPr>
              <a:t>Cliente móvil Android (Samsung S22 Ultra)</a:t>
            </a:r>
            <a:endParaRPr lang="en-US" sz="3200" dirty="0"/>
          </a:p>
        </p:txBody>
      </p:sp>
      <p:sp>
        <p:nvSpPr>
          <p:cNvPr id="3" name="tarjeta_157"/>
          <p:cNvSpPr/>
          <p:nvPr/>
        </p:nvSpPr>
        <p:spPr>
          <a:xfrm>
            <a:off x="612648" y="1298448"/>
            <a:ext cx="7370064" cy="4946904"/>
          </a:xfrm>
          <a:prstGeom prst="roundRect">
            <a:avLst>
              <a:gd name="adj" fmla="val 2773"/>
            </a:avLst>
          </a:prstGeom>
          <a:solidFill>
            <a:srgbClr val="1A2B4B"/>
          </a:solidFill>
          <a:ln w="12700">
            <a:solidFill>
              <a:srgbClr val="2439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4" name="imagen_158" descr="ev_android_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371600"/>
            <a:ext cx="7223760" cy="4800600"/>
          </a:xfrm>
          <a:prstGeom prst="rect">
            <a:avLst/>
          </a:prstGeom>
        </p:spPr>
      </p:pic>
      <p:sp>
        <p:nvSpPr>
          <p:cNvPr id="5" name="tarjeta_159"/>
          <p:cNvSpPr/>
          <p:nvPr/>
        </p:nvSpPr>
        <p:spPr>
          <a:xfrm>
            <a:off x="8275320" y="1371600"/>
            <a:ext cx="3337560" cy="4800600"/>
          </a:xfrm>
          <a:prstGeom prst="roundRect">
            <a:avLst>
              <a:gd name="adj" fmla="val 4110"/>
            </a:avLst>
          </a:prstGeom>
          <a:solidFill>
            <a:schemeClr val="tx2"/>
          </a:solidFill>
          <a:ln w="12700">
            <a:solidFill>
              <a:srgbClr val="2439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o_160"/>
          <p:cNvSpPr txBox="1"/>
          <p:nvPr/>
        </p:nvSpPr>
        <p:spPr>
          <a:xfrm>
            <a:off x="8503920" y="1600200"/>
            <a:ext cx="292608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3"/>
                </a:solidFill>
              </a:rPr>
              <a:t>App nativa en Java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2"/>
                </a:solidFill>
              </a:rPr>
              <a:t>Login con URL del servidor configurable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2"/>
                </a:solidFill>
              </a:rPr>
              <a:t>Peticiones en hilo secundario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2"/>
                </a:solidFill>
              </a:rPr>
              <a:t>Animaciones: flotar, sacudir, contar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2"/>
                </a:solidFill>
              </a:rPr>
              <a:t>Funciona por WiFi o por cable con adb reverse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2"/>
                </a:solidFill>
              </a:rPr>
              <a:t>Pruebas y resultados</a:t>
            </a:r>
            <a:endParaRPr lang="en-US" sz="3200" dirty="0"/>
          </a:p>
        </p:txBody>
      </p:sp>
      <p:sp>
        <p:nvSpPr>
          <p:cNvPr id="3" name="tarjeta_161"/>
          <p:cNvSpPr/>
          <p:nvPr/>
        </p:nvSpPr>
        <p:spPr>
          <a:xfrm>
            <a:off x="640080" y="1371600"/>
            <a:ext cx="2606040" cy="1737360"/>
          </a:xfrm>
          <a:prstGeom prst="roundRect">
            <a:avLst>
              <a:gd name="adj" fmla="val 7895"/>
            </a:avLst>
          </a:prstGeom>
          <a:solidFill>
            <a:schemeClr val="tx2"/>
          </a:solidFill>
          <a:ln w="12700">
            <a:solidFill>
              <a:srgbClr val="2439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4" name="texto_162"/>
          <p:cNvSpPr txBox="1"/>
          <p:nvPr/>
        </p:nvSpPr>
        <p:spPr>
          <a:xfrm>
            <a:off x="822960" y="146304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accent3"/>
                </a:solidFill>
              </a:rPr>
              <a:t>6/6</a:t>
            </a:r>
            <a:endParaRPr lang="en-US" sz="5400" dirty="0"/>
          </a:p>
        </p:txBody>
      </p:sp>
      <p:sp>
        <p:nvSpPr>
          <p:cNvPr id="5" name="texto_163"/>
          <p:cNvSpPr txBox="1"/>
          <p:nvPr/>
        </p:nvSpPr>
        <p:spPr>
          <a:xfrm>
            <a:off x="822960" y="24231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pruebas unitarias superadas</a:t>
            </a:r>
            <a:endParaRPr lang="en-US" sz="1400" dirty="0"/>
          </a:p>
        </p:txBody>
      </p:sp>
      <p:sp>
        <p:nvSpPr>
          <p:cNvPr id="6" name="tarjeta_164"/>
          <p:cNvSpPr/>
          <p:nvPr/>
        </p:nvSpPr>
        <p:spPr>
          <a:xfrm>
            <a:off x="3401568" y="1371600"/>
            <a:ext cx="2606040" cy="1737360"/>
          </a:xfrm>
          <a:prstGeom prst="roundRect">
            <a:avLst>
              <a:gd name="adj" fmla="val 7895"/>
            </a:avLst>
          </a:prstGeom>
          <a:solidFill>
            <a:schemeClr val="tx2"/>
          </a:solidFill>
          <a:ln w="12700">
            <a:solidFill>
              <a:srgbClr val="2439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o_165"/>
          <p:cNvSpPr txBox="1"/>
          <p:nvPr/>
        </p:nvSpPr>
        <p:spPr>
          <a:xfrm>
            <a:off x="3584448" y="146304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4</a:t>
            </a:r>
            <a:endParaRPr lang="en-US" sz="5400" dirty="0"/>
          </a:p>
        </p:txBody>
      </p:sp>
      <p:sp>
        <p:nvSpPr>
          <p:cNvPr id="8" name="texto_166"/>
          <p:cNvSpPr txBox="1"/>
          <p:nvPr/>
        </p:nvSpPr>
        <p:spPr>
          <a:xfrm>
            <a:off x="3584448" y="24231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clientes funcionando</a:t>
            </a:r>
            <a:endParaRPr lang="en-US" sz="1400" dirty="0"/>
          </a:p>
        </p:txBody>
      </p:sp>
      <p:sp>
        <p:nvSpPr>
          <p:cNvPr id="9" name="tarjeta_167"/>
          <p:cNvSpPr/>
          <p:nvPr/>
        </p:nvSpPr>
        <p:spPr>
          <a:xfrm>
            <a:off x="6163056" y="1371600"/>
            <a:ext cx="2606040" cy="1737360"/>
          </a:xfrm>
          <a:prstGeom prst="roundRect">
            <a:avLst>
              <a:gd name="adj" fmla="val 7895"/>
            </a:avLst>
          </a:prstGeom>
          <a:solidFill>
            <a:schemeClr val="tx2"/>
          </a:solidFill>
          <a:ln w="12700">
            <a:solidFill>
              <a:srgbClr val="2439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o_168"/>
          <p:cNvSpPr txBox="1"/>
          <p:nvPr/>
        </p:nvSpPr>
        <p:spPr>
          <a:xfrm>
            <a:off x="6345936" y="146304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accent5"/>
                </a:solidFill>
              </a:rPr>
              <a:t>18</a:t>
            </a:r>
            <a:endParaRPr lang="en-US" sz="5400" dirty="0"/>
          </a:p>
        </p:txBody>
      </p:sp>
      <p:sp>
        <p:nvSpPr>
          <p:cNvPr id="11" name="texto_169"/>
          <p:cNvSpPr txBox="1"/>
          <p:nvPr/>
        </p:nvSpPr>
        <p:spPr>
          <a:xfrm>
            <a:off x="6345936" y="24231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unidades soportadas</a:t>
            </a:r>
            <a:endParaRPr lang="en-US" sz="1400" dirty="0"/>
          </a:p>
        </p:txBody>
      </p:sp>
      <p:sp>
        <p:nvSpPr>
          <p:cNvPr id="12" name="tarjeta_170"/>
          <p:cNvSpPr/>
          <p:nvPr/>
        </p:nvSpPr>
        <p:spPr>
          <a:xfrm>
            <a:off x="8924544" y="1371600"/>
            <a:ext cx="2606040" cy="1737360"/>
          </a:xfrm>
          <a:prstGeom prst="roundRect">
            <a:avLst>
              <a:gd name="adj" fmla="val 7895"/>
            </a:avLst>
          </a:prstGeom>
          <a:solidFill>
            <a:schemeClr val="tx2"/>
          </a:solidFill>
          <a:ln w="12700">
            <a:solidFill>
              <a:srgbClr val="2439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o_171"/>
          <p:cNvSpPr txBox="1"/>
          <p:nvPr/>
        </p:nvSpPr>
        <p:spPr>
          <a:xfrm>
            <a:off x="9107424" y="146304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accent2"/>
                </a:solidFill>
              </a:rPr>
              <a:t>7</a:t>
            </a:r>
            <a:endParaRPr lang="en-US" sz="5400" dirty="0"/>
          </a:p>
        </p:txBody>
      </p:sp>
      <p:sp>
        <p:nvSpPr>
          <p:cNvPr id="14" name="texto_172"/>
          <p:cNvSpPr txBox="1"/>
          <p:nvPr/>
        </p:nvSpPr>
        <p:spPr>
          <a:xfrm>
            <a:off x="9107424" y="24231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endpoints REST</a:t>
            </a:r>
            <a:endParaRPr lang="en-US" sz="1400" dirty="0"/>
          </a:p>
        </p:txBody>
      </p:sp>
      <p:sp>
        <p:nvSpPr>
          <p:cNvPr id="15" name="tarjeta_173"/>
          <p:cNvSpPr/>
          <p:nvPr/>
        </p:nvSpPr>
        <p:spPr>
          <a:xfrm>
            <a:off x="612648" y="3447288"/>
            <a:ext cx="10981944" cy="2798064"/>
          </a:xfrm>
          <a:prstGeom prst="roundRect">
            <a:avLst>
              <a:gd name="adj" fmla="val 4902"/>
            </a:avLst>
          </a:prstGeom>
          <a:solidFill>
            <a:srgbClr val="1A2B4B"/>
          </a:solidFill>
          <a:ln w="12700">
            <a:solidFill>
              <a:srgbClr val="2439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6" name="imagen_174" descr="ev_prueba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3520440"/>
            <a:ext cx="10835640" cy="26517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2"/>
                </a:solidFill>
              </a:rPr>
              <a:t>Modelado UML</a:t>
            </a:r>
            <a:endParaRPr lang="en-US" sz="3200" dirty="0"/>
          </a:p>
        </p:txBody>
      </p:sp>
      <p:sp>
        <p:nvSpPr>
          <p:cNvPr id="3" name="tarjeta_175"/>
          <p:cNvSpPr/>
          <p:nvPr/>
        </p:nvSpPr>
        <p:spPr>
          <a:xfrm>
            <a:off x="612648" y="1298448"/>
            <a:ext cx="4352544" cy="4901184"/>
          </a:xfrm>
          <a:prstGeom prst="roundRect">
            <a:avLst>
              <a:gd name="adj" fmla="val 3151"/>
            </a:avLst>
          </a:prstGeom>
          <a:solidFill>
            <a:srgbClr val="1A2B4B"/>
          </a:solidFill>
          <a:ln w="12700">
            <a:solidFill>
              <a:srgbClr val="2439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4" name="imagen_176" descr="01_casos_de_us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371600"/>
            <a:ext cx="4206240" cy="4754880"/>
          </a:xfrm>
          <a:prstGeom prst="rect">
            <a:avLst/>
          </a:prstGeom>
        </p:spPr>
      </p:pic>
      <p:sp>
        <p:nvSpPr>
          <p:cNvPr id="5" name="tarjeta_177"/>
          <p:cNvSpPr/>
          <p:nvPr/>
        </p:nvSpPr>
        <p:spPr>
          <a:xfrm>
            <a:off x="5184648" y="1298448"/>
            <a:ext cx="6409944" cy="4901184"/>
          </a:xfrm>
          <a:prstGeom prst="roundRect">
            <a:avLst>
              <a:gd name="adj" fmla="val 2799"/>
            </a:avLst>
          </a:prstGeom>
          <a:solidFill>
            <a:srgbClr val="1A2B4B"/>
          </a:solidFill>
          <a:ln w="12700">
            <a:solidFill>
              <a:srgbClr val="2439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n_178" descr="13_clase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257800" y="1371600"/>
            <a:ext cx="6263640" cy="47548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2"/>
                </a:solidFill>
              </a:rPr>
              <a:t>Conclusiones</a:t>
            </a:r>
            <a:endParaRPr lang="en-US" sz="3200" dirty="0"/>
          </a:p>
        </p:txBody>
      </p:sp>
      <p:sp>
        <p:nvSpPr>
          <p:cNvPr id="3" name="tarjeta_179"/>
          <p:cNvSpPr/>
          <p:nvPr/>
        </p:nvSpPr>
        <p:spPr>
          <a:xfrm>
            <a:off x="640080" y="1463040"/>
            <a:ext cx="5303520" cy="2011680"/>
          </a:xfrm>
          <a:prstGeom prst="roundRect">
            <a:avLst>
              <a:gd name="adj" fmla="val 6818"/>
            </a:avLst>
          </a:prstGeom>
          <a:solidFill>
            <a:schemeClr val="tx2"/>
          </a:solidFill>
          <a:ln w="12700">
            <a:solidFill>
              <a:srgbClr val="2439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4" name="circulo_180"/>
          <p:cNvSpPr/>
          <p:nvPr/>
        </p:nvSpPr>
        <p:spPr>
          <a:xfrm>
            <a:off x="914400" y="17830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icono_181"/>
          <p:cNvSpPr txBox="1"/>
          <p:nvPr/>
        </p:nvSpPr>
        <p:spPr>
          <a:xfrm>
            <a:off x="91440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o_182"/>
          <p:cNvSpPr txBox="1"/>
          <p:nvPr/>
        </p:nvSpPr>
        <p:spPr>
          <a:xfrm>
            <a:off x="1783080" y="18288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Reutilización</a:t>
            </a:r>
            <a:endParaRPr lang="en-US" sz="2200" dirty="0"/>
          </a:p>
        </p:txBody>
      </p:sp>
      <p:sp>
        <p:nvSpPr>
          <p:cNvPr id="7" name="texto_183"/>
          <p:cNvSpPr txBox="1"/>
          <p:nvPr/>
        </p:nvSpPr>
        <p:spPr>
          <a:xfrm>
            <a:off x="1783080" y="233172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Cuatro tecnologías distintas consumen exactamente la misma lógica de negocio.</a:t>
            </a:r>
            <a:endParaRPr lang="en-US" sz="1500" dirty="0"/>
          </a:p>
        </p:txBody>
      </p:sp>
      <p:sp>
        <p:nvSpPr>
          <p:cNvPr id="8" name="tarjeta_184"/>
          <p:cNvSpPr/>
          <p:nvPr/>
        </p:nvSpPr>
        <p:spPr>
          <a:xfrm>
            <a:off x="6217920" y="1463040"/>
            <a:ext cx="5303520" cy="2011680"/>
          </a:xfrm>
          <a:prstGeom prst="roundRect">
            <a:avLst>
              <a:gd name="adj" fmla="val 6818"/>
            </a:avLst>
          </a:prstGeom>
          <a:solidFill>
            <a:schemeClr val="tx2"/>
          </a:solidFill>
          <a:ln w="12700">
            <a:solidFill>
              <a:srgbClr val="2439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circulo_185"/>
          <p:cNvSpPr/>
          <p:nvPr/>
        </p:nvSpPr>
        <p:spPr>
          <a:xfrm>
            <a:off x="6492240" y="1783080"/>
            <a:ext cx="640080" cy="640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icono_186"/>
          <p:cNvSpPr txBox="1"/>
          <p:nvPr/>
        </p:nvSpPr>
        <p:spPr>
          <a:xfrm>
            <a:off x="649224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o_187"/>
          <p:cNvSpPr txBox="1"/>
          <p:nvPr/>
        </p:nvSpPr>
        <p:spPr>
          <a:xfrm>
            <a:off x="7360920" y="18288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Escalabilidad</a:t>
            </a:r>
            <a:endParaRPr lang="en-US" sz="2200" dirty="0"/>
          </a:p>
        </p:txBody>
      </p:sp>
      <p:sp>
        <p:nvSpPr>
          <p:cNvPr id="12" name="texto_188"/>
          <p:cNvSpPr txBox="1"/>
          <p:nvPr/>
        </p:nvSpPr>
        <p:spPr>
          <a:xfrm>
            <a:off x="7360920" y="233172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Agregar la magnitud Tiempo no requirió cambiar los clientes: leen el catálogo del servidor.</a:t>
            </a:r>
            <a:endParaRPr lang="en-US" sz="1500" dirty="0"/>
          </a:p>
        </p:txBody>
      </p:sp>
      <p:sp>
        <p:nvSpPr>
          <p:cNvPr id="13" name="tarjeta_189"/>
          <p:cNvSpPr/>
          <p:nvPr/>
        </p:nvSpPr>
        <p:spPr>
          <a:xfrm>
            <a:off x="640080" y="3749040"/>
            <a:ext cx="5303520" cy="2011680"/>
          </a:xfrm>
          <a:prstGeom prst="roundRect">
            <a:avLst>
              <a:gd name="adj" fmla="val 6818"/>
            </a:avLst>
          </a:prstGeom>
          <a:solidFill>
            <a:schemeClr val="tx2"/>
          </a:solidFill>
          <a:ln w="12700">
            <a:solidFill>
              <a:srgbClr val="2439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circulo_190"/>
          <p:cNvSpPr/>
          <p:nvPr/>
        </p:nvSpPr>
        <p:spPr>
          <a:xfrm>
            <a:off x="914400" y="4069080"/>
            <a:ext cx="640080" cy="6400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icono_191"/>
          <p:cNvSpPr txBox="1"/>
          <p:nvPr/>
        </p:nvSpPr>
        <p:spPr>
          <a:xfrm>
            <a:off x="914400" y="4069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o_192"/>
          <p:cNvSpPr txBox="1"/>
          <p:nvPr/>
        </p:nvSpPr>
        <p:spPr>
          <a:xfrm>
            <a:off x="1783080" y="41148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5"/>
                </a:solidFill>
              </a:rPr>
              <a:t>Seguridad</a:t>
            </a:r>
            <a:endParaRPr lang="en-US" sz="2200" dirty="0"/>
          </a:p>
        </p:txBody>
      </p:sp>
      <p:sp>
        <p:nvSpPr>
          <p:cNvPr id="17" name="texto_193"/>
          <p:cNvSpPr txBox="1"/>
          <p:nvPr/>
        </p:nvSpPr>
        <p:spPr>
          <a:xfrm>
            <a:off x="1783080" y="461772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Clave con hash y tokens con expiración, adecuados para un servicio sin base de datos.</a:t>
            </a:r>
            <a:endParaRPr lang="en-US" sz="1500" dirty="0"/>
          </a:p>
        </p:txBody>
      </p:sp>
      <p:sp>
        <p:nvSpPr>
          <p:cNvPr id="18" name="tarjeta_194"/>
          <p:cNvSpPr/>
          <p:nvPr/>
        </p:nvSpPr>
        <p:spPr>
          <a:xfrm>
            <a:off x="6217920" y="3749040"/>
            <a:ext cx="5303520" cy="2011680"/>
          </a:xfrm>
          <a:prstGeom prst="roundRect">
            <a:avLst>
              <a:gd name="adj" fmla="val 6818"/>
            </a:avLst>
          </a:prstGeom>
          <a:solidFill>
            <a:schemeClr val="tx2"/>
          </a:solidFill>
          <a:ln w="12700">
            <a:solidFill>
              <a:srgbClr val="2439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circulo_195"/>
          <p:cNvSpPr/>
          <p:nvPr/>
        </p:nvSpPr>
        <p:spPr>
          <a:xfrm>
            <a:off x="6492240" y="406908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icono_196"/>
          <p:cNvSpPr txBox="1"/>
          <p:nvPr/>
        </p:nvSpPr>
        <p:spPr>
          <a:xfrm>
            <a:off x="6492240" y="4069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o_197"/>
          <p:cNvSpPr txBox="1"/>
          <p:nvPr/>
        </p:nvSpPr>
        <p:spPr>
          <a:xfrm>
            <a:off x="7360920" y="41148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Trazabilidad</a:t>
            </a:r>
            <a:endParaRPr lang="en-US" sz="2200" dirty="0"/>
          </a:p>
        </p:txBody>
      </p:sp>
      <p:sp>
        <p:nvSpPr>
          <p:cNvPr id="22" name="texto_198"/>
          <p:cNvSpPr txBox="1"/>
          <p:nvPr/>
        </p:nvSpPr>
        <p:spPr>
          <a:xfrm>
            <a:off x="7360920" y="461772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El panel muestra en vivo el uso del servicio por cada cliente.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rjeta_199"/>
          <p:cNvSpPr/>
          <p:nvPr/>
        </p:nvSpPr>
        <p:spPr>
          <a:xfrm>
            <a:off x="4480560" y="640080"/>
            <a:ext cx="3200400" cy="3291840"/>
          </a:xfrm>
          <a:prstGeom prst="roundRect">
            <a:avLst>
              <a:gd name="adj" fmla="val 4286"/>
            </a:avLst>
          </a:prstGeom>
          <a:solidFill>
            <a:srgbClr val="1A2B4B"/>
          </a:solidFill>
          <a:ln w="381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3" name="monster_cierre" descr="Monste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0" y="731520"/>
            <a:ext cx="3017520" cy="3108960"/>
          </a:xfrm>
          <a:prstGeom prst="rect">
            <a:avLst/>
          </a:prstGeom>
        </p:spPr>
      </p:pic>
      <p:sp>
        <p:nvSpPr>
          <p:cNvPr id="4" name="texto_200"/>
          <p:cNvSpPr txBox="1"/>
          <p:nvPr/>
        </p:nvSpPr>
        <p:spPr>
          <a:xfrm>
            <a:off x="1371600" y="4160520"/>
            <a:ext cx="9418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bg2"/>
                </a:solidFill>
              </a:rPr>
              <a:t>¡Gracias!</a:t>
            </a:r>
            <a:endParaRPr lang="en-US" sz="4800" dirty="0"/>
          </a:p>
        </p:txBody>
      </p:sp>
      <p:sp>
        <p:nvSpPr>
          <p:cNvPr id="5" name="texto_201"/>
          <p:cNvSpPr txBox="1"/>
          <p:nvPr/>
        </p:nvSpPr>
        <p:spPr>
          <a:xfrm>
            <a:off x="1371600" y="507492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2"/>
                </a:solidFill>
              </a:rPr>
              <a:t>Demostración en vivo: servidor · consola · escritorio · web · móvil</a:t>
            </a:r>
            <a:endParaRPr lang="en-US" sz="2000" dirty="0"/>
          </a:p>
        </p:txBody>
      </p:sp>
      <p:sp>
        <p:nvSpPr>
          <p:cNvPr id="6" name="texto_202"/>
          <p:cNvSpPr txBox="1"/>
          <p:nvPr/>
        </p:nvSpPr>
        <p:spPr>
          <a:xfrm>
            <a:off x="1371600" y="56235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Grupo 1 · NRC 36841 · usuario monster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nster Conversor">
  <a:themeElements>
    <a:clrScheme name="Monster Conversor">
      <a:dk1>
        <a:srgbClr val="0B1426"/>
      </a:dk1>
      <a:lt1>
        <a:srgbClr val="FFFFFF"/>
      </a:lt1>
      <a:dk2>
        <a:srgbClr val="13213B"/>
      </a:dk2>
      <a:lt2>
        <a:srgbClr val="E8EEFB"/>
      </a:lt2>
      <a:accent1>
        <a:srgbClr val="3D8BFD"/>
      </a:accent1>
      <a:accent2>
        <a:srgbClr val="2DD4BF"/>
      </a:accent2>
      <a:accent3>
        <a:srgbClr val="22C55E"/>
      </a:accent3>
      <a:accent4>
        <a:srgbClr val="F43F5E"/>
      </a:accent4>
      <a:accent5>
        <a:srgbClr val="FBBF24"/>
      </a:accent5>
      <a:accent6>
        <a:srgbClr val="8FA3C7"/>
      </a:accent6>
      <a:hlink>
        <a:srgbClr val="2DD4BF"/>
      </a:hlink>
      <a:folHlink>
        <a:srgbClr val="8FA3C7"/>
      </a:folHlink>
    </a:clrScheme>
    <a:fontScheme name="Monster Conversor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ESPE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Conversión de Unidades Monster - RESTful Java</dc:title>
  <dc:subject>PptxGenJS Presentation</dc:subject>
  <dc:creator>Grupo 1 - NRC 36841</dc:creator>
  <cp:lastModifiedBy>Grupo 1 - NRC 36841</cp:lastModifiedBy>
  <cp:revision>1</cp:revision>
  <dcterms:created xsi:type="dcterms:W3CDTF">2026-10-26T02:26:05Z</dcterms:created>
  <dcterms:modified xsi:type="dcterms:W3CDTF">2026-10-26T02:26:05Z</dcterms:modified>
</cp:coreProperties>
</file>